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5739" autoAdjust="0"/>
  </p:normalViewPr>
  <p:slideViewPr>
    <p:cSldViewPr snapToGrid="0" snapToObjects="1">
      <p:cViewPr varScale="1">
        <p:scale>
          <a:sx n="46" d="100"/>
          <a:sy n="46" d="100"/>
        </p:scale>
        <p:origin x="2506"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383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Title / Course Introduction</a:t>
            </a:r>
            <a:br>
              <a:rPr lang="en-US" sz="1100" dirty="0">
                <a:solidFill>
                  <a:srgbClr val="111111"/>
                </a:solidFill>
              </a:rPr>
            </a:br>
            <a:br>
              <a:rPr lang="en-US" sz="1100" dirty="0">
                <a:solidFill>
                  <a:srgbClr val="111111"/>
                </a:solidFill>
              </a:rPr>
            </a:br>
            <a:r>
              <a:rPr lang="en-US" sz="1100" dirty="0"/>
              <a:t>"Welcome! In this module, we’ll explore how semiconductors—the tiny components powering our everyday devices—are manufactured. From raw materials to finished microchips, we’ll break down the process step by step. Select Start when you’re ready to begin."</a:t>
            </a:r>
            <a:r>
              <a:rPr lang="en-US" sz="1100" dirty="0">
                <a:solidFill>
                  <a:srgbClr val="111111"/>
                </a:solidFill>
              </a:rPr>
              <a:t>
────────────────────────────────────────────────────────────
VOICEOVER SCRIPT
────────────────────────────────────────────────────────────
"Welcome! Have you ever wondered what's inside the device you're holding right now — your smartphone, laptop, or tablet? At the heart of every one of these devices is a tiny, powerful component called a semiconductor chip. But how exactly is a chip made? In this course, we'll take you step by step through the entire manufacturing process — from grains of sand dug out of the earth, all the way to the finished chip that powers your world. No technical background required. Let's get started!"
────────────────────────────────────────────────────────────
INTERACTION DESIGN
────────────────────────────────────────────────────────────
None — Title screen. Auto-advances after 3 seconds or on learner click.
────────────────────────────────────────────────────────────
PRODUCTION NOTES
────────────────────────────────────────────────────────────
Animation: Circuit-dot row fades in from left (cascade, 0.05s delay per dot).
Animation: Chip icon pulses with a soft green glow on entry.
Animation: Title slides in from left; subtitle fades in 0.5s after.
Animation: Metadata pills (Duration / Level / Type) pop in with bounce effect, 0.2s stagger.
Visual: Dark circuit-board texture as animated looping background.
VO Duration: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Learning Objectives</a:t>
            </a:r>
            <a:br>
              <a:rPr lang="en-US" sz="1100" dirty="0">
                <a:solidFill>
                  <a:srgbClr val="111111"/>
                </a:solidFill>
              </a:rPr>
            </a:br>
            <a:r>
              <a:rPr lang="en-US" sz="1100" dirty="0"/>
              <a:t>By the end of this module, you’ll be able to identify the key steps in semiconductor manufacturing, understand the purpose behind each stage, and apply this knowledge to real-world scenarios. Let’s get started.</a:t>
            </a:r>
            <a:r>
              <a:rPr lang="en-US" sz="1100" dirty="0">
                <a:solidFill>
                  <a:srgbClr val="111111"/>
                </a:solidFill>
              </a:rPr>
              <a:t>
────────────────────────────────────────────────────────────
VOICEOVER SCRIPT
────────────────────────────────────────────────────────────
"Before we dive in, let's set the stage. By the end of this short course, you'll be able to do four key things. First, explain what a semiconductor is — in plain terms, no jargon. Second, identify and sequence the eight stages of chip manufacturing. Third, describe the purpose of each step and how it affects the final chip. And fourth, apply your understanding to a real engineering scenario. Sound good? Let's build this up — one step at a time."
────────────────────────────────────────────────────────────
INTERACTION DESIGN
────────────────────────────────────────────────────────────
None — informational. Each card animates in sequentially as VO plays.
────────────────────────────────────────────────────────────
PRODUCTION NOTES
────────────────────────────────────────────────────────────
Animation: Each numbered card flies up from bottom, 0.3s stagger.
Animation: Card numbers glow teal on entry.
Visual: Consistent top navigation bar with progress indicator.
Visual: 4-card grid layout — icon + number + description text per card.
VO Duration: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What Is a Semiconductor?</a:t>
            </a:r>
            <a:br>
              <a:rPr lang="en-US" sz="1100" dirty="0">
                <a:solidFill>
                  <a:srgbClr val="111111"/>
                </a:solidFill>
              </a:rPr>
            </a:br>
            <a:r>
              <a:rPr lang="en-US" sz="1100" dirty="0"/>
              <a:t>So, what exactly is a semiconductor? It’s a material that can control the flow of electricity. Unlike conductors, which allow electricity to pass freely, or insulators, which block it, semiconductors fall somewhere in between. This unique property makes them ideal for building electronic components like microchips. Silicon is the most commonly used semiconductor material.</a:t>
            </a:r>
            <a:r>
              <a:rPr lang="en-US" sz="1100" dirty="0">
                <a:solidFill>
                  <a:srgbClr val="111111"/>
                </a:solidFill>
              </a:rPr>
              <a:t>
────────────────────────────────────────────────────────────
VOICEOVER SCRIPT
────────────────────────────────────────────────────────────
"Let's start with the basics. A semiconductor is a material that sits right between a conductor — like copper, which lets electricity flow freely — and an insulator — like glass, which blocks it entirely. Silicon, the material behind Silicon Valley's name, is the most widely used semiconductor in the world. What makes it so valuable is this: we can control exactly how much electricity flows through it. By adding tiny amounts of other elements — a process called doping — we turn silicon into billions of microscopic switches. Those switches are what make your apps, your calls, and your camera all work."
────────────────────────────────────────────────────────────
INTERACTION DESIGN
────────────────────────────────────────────────────────────
None — animated infographic. Conductivity scale animates left to right as VO plays.
────────────────────────────────────────────────────────────
PRODUCTION NOTES
────────────────────────────────────────────────────────────
Animation: Conductivity bar chart rises from left (Insulator → Semiconductor → Conductor).
Animation: Electron-flow arrows animate along the conductor bar.
Visual: Color-coded labels — grey for Insulator, teal for Semiconductor, gold for Conductor.
Visual: Key Insight box fades in last, highlighted in a subtle teal border.
VO Duration: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8-Step Process Roadmap (Interactive Overview)</a:t>
            </a:r>
            <a:br>
              <a:rPr lang="en-US" sz="1100" dirty="0">
                <a:solidFill>
                  <a:srgbClr val="111111"/>
                </a:solidFill>
              </a:rPr>
            </a:br>
            <a:r>
              <a:rPr lang="en-US" sz="1100" dirty="0"/>
              <a:t>Semiconductors are at the heart of modern technology. They power devices like smartphones, laptops, and even cars. Without them, everyday technologies we rely on simply wouldn’t exist. In many ways, semiconductors form the backbone of our digital world.</a:t>
            </a:r>
            <a:r>
              <a:rPr lang="en-US" sz="1100" dirty="0">
                <a:solidFill>
                  <a:srgbClr val="111111"/>
                </a:solidFill>
              </a:rPr>
              <a:t>
────────────────────────────────────────────────────────────
VOICEOVER SCRIPT
────────────────────────────────────────────────────────────
"Now let's get a bird's-eye view of the entire manufacturing process. From start to finish, making a semiconductor chip involves eight major steps. We start with raw sand, purify it into silicon, grow it into a crystal ingot, and slice it into thin wafers. Then we use light, chemistry, and heat to build billions of transistors on each wafer. We test every chip for defects — and finally package it for the real world. We'll explore each step in detail. Keep this roadmap in mind — it'll help you see how everything connects."
────────────────────────────────────────────────────────────
INTERACTION DESIGN
────────────────────────────────────────────────────────────
Interaction Type: Click-to-navigate hotspots.
Each of the 8 step-cards is a clickable button.
Click → jumps to the corresponding detail slide for that step.
A 'Back to Roadmap' button appears on each detail slide to return here.
Learners can also use the linear Next button to follow the default sequence.
────────────────────────────────────────────────────────────
PRODUCTION NOTES
────────────────────────────────────────────────────────────
Animation: Step cards cascade in from left, 0.15s stagger.
Animation: Hover state — card lifts slightly with a glow border.
Visual: Numbered badges (01–08) in teal circles.
Visual: Active/visited state — completed steps show a checkmark overlay.
VO Duration: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Step 01: Sand to Silicon</a:t>
            </a:r>
            <a:br>
              <a:rPr lang="en-US" sz="1100" dirty="0">
                <a:solidFill>
                  <a:srgbClr val="111111"/>
                </a:solidFill>
              </a:rPr>
            </a:br>
            <a:r>
              <a:rPr lang="en-US" sz="1100" dirty="0"/>
              <a:t>Now that we understand what semiconductors are and why they matter, let’s look at how they are made. The manufacturing process involves several precise steps. It begins with wafer preparation and continues through photolithography, etching, and doping, before ending with packaging. We’ll explore each of these stages in detail.</a:t>
            </a:r>
            <a:r>
              <a:rPr lang="en-US" sz="1100" dirty="0">
                <a:solidFill>
                  <a:srgbClr val="111111"/>
                </a:solidFill>
              </a:rPr>
              <a:t>
────────────────────────────────────────────────────────────
VOICEOVER SCRIPT
────────────────────────────────────────────────────────────
"Step one begins not in a high-tech factory — but on a beach. Silica sand, rich in silicon dioxide, is our raw material. This sand is melted in huge arc furnaces at over 1,600 degrees Celsius to extract raw silicon — about 98% pure. Then a chemical process called trichlorosilane refinement pushes that purity to 99.9999999% — that's nine nines of purity! Finally, the silicon is melted again and slowly pulled upward in a process called the Czochralski method to form a perfect crystal cylinder called an ingot. This ingot is the foundation of every chip we'll build."
────────────────────────────────────────────────────────────
INTERACTION DESIGN
────────────────────────────────────────────────────────────
None — animated content. 3-step visual sequence animates with VO narration.
────────────────────────────────────────────────────────────
PRODUCTION NOTES
────────────────────────────────────────────────────────────
Animation: 3-step sequence — Sand pile → Furnace (orange glow) → Crystal ingot rotating.
Animation: Each stage label fades in as VO reaches that point.
Animation: Step 01 badge pulses with a glow on entry.
Visual: Fun Fact callout box slides in at bottom after main content.
Visual: Left panel = animation; Right panel = 4 bullet points with icons.
VO Duration: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Steps 02–04: Wafer Slicing, Photolithography &amp; Etching</a:t>
            </a:r>
            <a:br>
              <a:rPr lang="en-US" sz="1100" dirty="0">
                <a:solidFill>
                  <a:srgbClr val="111111"/>
                </a:solidFill>
              </a:rPr>
            </a:br>
            <a:r>
              <a:rPr lang="en-US" sz="1100" dirty="0"/>
              <a:t>The process begins with silicon. It is first formed into a solid crystal structure, often called an ingot. This ingot is then sliced into thin wafers. These wafers are carefully polished to create a smooth, uniform surface, which is essential for building accurate circuit patterns in later steps</a:t>
            </a:r>
            <a:r>
              <a:rPr lang="en-US" sz="1100" dirty="0">
                <a:solidFill>
                  <a:srgbClr val="111111"/>
                </a:solidFill>
              </a:rPr>
              <a:t>
────────────────────────────────────────────────────────────
VOICEOVER SCRIPT
────────────────────────────────────────────────────────────
"With our silicon ingot ready, it's time to shape it into wafers. Step two: the ingot is sliced into ultra-thin discs — about 1 millimeter thick — using diamond wire saws, then polished to a mirror finish. These are wafers. Step three is one of the most remarkable steps: photolithography. We coat the wafer with a light-sensitive chemical, then shine UV light through a circuit-pattern mask — like developing a photograph — to transfer the blueprint onto the wafer. Step four, etching: chemicals or plasma remove the exposed areas, carving microscopic circuit channels into the silicon. To give you a sense of scale — a human hair is one thousand times wider than these channels."
────────────────────────────────────────────────────────────
INTERACTION DESIGN
────────────────────────────────────────────────────────────
None — sequential animated content. Each step animates as VO reaches it.
────────────────────────────────────────────────────────────
PRODUCTION NOTES
────────────────────────────────────────────────────────────
Animation: Three-column layout — each column activates sequentially (Step 02 → 03 → 04).
Animation: Photolithography — UV beam sweeps across wafer, circuit pattern appears.
Animation: Etching — plasma sparks nibble away material in micro close-up.
Visual: Scale comparison callout bar at bottom — 'Hair: 70µm vs Circuit: 2nm'.
VO Duration: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Steps 05–06: Doping &amp; Deposition</a:t>
            </a:r>
            <a:br>
              <a:rPr lang="en-US" sz="1100" dirty="0">
                <a:solidFill>
                  <a:srgbClr val="111111"/>
                </a:solidFill>
              </a:rPr>
            </a:br>
            <a:r>
              <a:rPr lang="en-US" sz="1100" dirty="0"/>
              <a:t>Next is photolithography, one of the most critical steps in the process. In this stage, ultraviolet light and masks are used to transfer circuit patterns onto the wafer surface. These patterns define the structure of the electronic circuits that will eventually power devices.</a:t>
            </a:r>
            <a:r>
              <a:rPr lang="en-US" sz="1100" dirty="0">
                <a:solidFill>
                  <a:srgbClr val="111111"/>
                </a:solidFill>
              </a:rPr>
              <a:t>
────────────────────────────────────────────────────────────
VOICEOVER SCRIPT
────────────────────────────────────────────────────────────
"Now we give silicon its electrical personality — through doping. This means introducing tiny amounts of other elements into the silicon. Boron creates P-type regions with positive charge carriers, while phosphorus creates N-type regions with extra electrons. Together, these P-N junctions form transistors — the switches at the heart of every chip. After doping comes deposition: think of building a cake, layer by layer. Each layer adds conductors, insulators, or connections, building up the complex multilayer structure that makes modern chips so powerful. A single chip can have over 100 of these layers."
────────────────────────────────────────────────────────────
INTERACTION DESIGN
────────────────────────────────────────────────────────────
None — animated diagram. P-type and N-type regions appear color-coded during VO.
────────────────────────────────────────────────────────────
PRODUCTION NOTES
────────────────────────────────────────────────────────────
Animation: Ion beam fires at wafer; P-type (blue) and N-type (red) regions appear.
Animation: Deposition layers stack one by one — CVD and PVD labels appear with each layer.
Visual: Color-coded P/N type labels with small spark/glow effects.
Visual: Two-column layout — Doping left, Deposition right.
VO Duration: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Content — Steps 07–08: Testing &amp; Packaging</a:t>
            </a:r>
            <a:br>
              <a:rPr lang="en-US" sz="1100" dirty="0">
                <a:solidFill>
                  <a:srgbClr val="111111"/>
                </a:solidFill>
              </a:rPr>
            </a:br>
            <a:r>
              <a:rPr lang="en-US" sz="1100" dirty="0"/>
              <a:t>Next comes doping. In this stage, small amounts of impurities are introduced into the semiconductor material to modify its electrical properties. This allows the chip to control electrical flow effectively. Finally, the chip is packaged, making it ready to be installed in electronic devices.</a:t>
            </a:r>
            <a:br>
              <a:rPr lang="en-US" sz="1100" dirty="0">
                <a:solidFill>
                  <a:srgbClr val="111111"/>
                </a:solidFill>
              </a:rPr>
            </a:br>
            <a:r>
              <a:rPr lang="en-US" sz="1100" dirty="0"/>
              <a:t>Once the circuit pattern is applied, the etching process begins. During this stage, unwanted material is removed from the wafer. What remains is the precise circuit structure defined in the previous step. This step requires extreme accuracy to ensure proper functionality</a:t>
            </a:r>
            <a:r>
              <a:rPr lang="en-US" sz="1100" dirty="0">
                <a:solidFill>
                  <a:srgbClr val="111111"/>
                </a:solidFill>
              </a:rPr>
              <a:t>
────────────────────────────────────────────────────────────
VOICEOVER SCRIPT
────────────────────────────────────────────────────────────
"Before any chip leaves the factory, it must be tested — rigorously. Tiny probe needles make contact with each chip on the wafer and run thousands of electrical tests in seconds. Chips that pass glow green; those that fail are marked red and discarded. Then automated optical cameras scan for physical defects invisible to the naked eye. Once testing is complete, the wafer is diced into individual chips — called dies. Each die is bonded to a substrate with hair-thin gold wires and sealed in protective epoxy — those are the black chips you see on circuit boards. The journey is complete."
────────────────────────────────────────────────────────────
INTERACTION DESIGN
────────────────────────────────────────────────────────────
None — animated sequence. Probe test animation plays, then packaging sequence.
────────────────────────────────────────────────────────────
PRODUCTION NOTES
────────────────────────────────────────────────────────────
Animation: Robotic probe arm descends; chips light up green (pass) or red (fail).
Animation: Wafer dicing sequence — cuts appear, dies separate.
Animation: Wire bonding close-up — gold wire arcs from chip to substrate.
Visual: Yield stat callout — 'Typical yield: 60–90% of chips pass testing'.
VO Duration: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Interactive Branching Scenario — Apply What You Know</a:t>
            </a:r>
            <a:br>
              <a:rPr lang="en-US" sz="1100" dirty="0">
                <a:solidFill>
                  <a:srgbClr val="111111"/>
                </a:solidFill>
              </a:rPr>
            </a:br>
            <a:r>
              <a:rPr lang="en-US" sz="1100" dirty="0">
                <a:solidFill>
                  <a:srgbClr val="111111"/>
                </a:solidFill>
              </a:rPr>
              <a:t>
────────────────────────────────────────────────────────────
VOICEOVER SCRIPT
────────────────────────────────────────────────────────────
"Now it's your turn to think like an engineer! Read the scenario carefully. You're a process engineer, and something has gone wrong after photolithography — the circuit patterns on several wafers are blurry and misaligned. Production is at risk. What do you do first? Think through the sequence of steps and the consequences of each choice. Select one of the four options — and click to reveal detailed feedback explaining exactly why your answer is right or wrong. Take your time."
────────────────────────────────────────────────────────────
INTERACTION DESIGN
────────────────────────────────────────────────────────────
Interaction Type: Single-select branching scenario with layered feedback.
OPTION A — Incorrect:
Layer 1 (immediate): Red X overlay. Text: "Not quite!"
Layer 2 (explanation): "Defects do not self-correct in subsequent steps. Proceeding to etching with a faulty pattern will permanently damage the wafer batch."
OPTION B — Correct:
Layer 1 (immediate): Green checkmark overlay. Text: "Correct!"
Layer 2 (explanation): "Halting and inspecting the UV system and photomask is the right call. Catching defects here prevents a costly cascade of errors in later steps."
OPTION C — Incorrect:
Layer 1 (immediate): Red X overlay. Text: "Not quite!"
Layer 2 (explanation): "Blurry patterns cannot be corrected at the packaging stage. Chips with faulty circuits would fail testing and be discarded — wasting the entire batch."
OPTION D — Incorrect:
Layer 1 (immediate): Red X overlay. Text: "Not quite!"
Layer 2 (explanation): "Restarting from purification is unnecessary and extremely costly. The issue is isolated to the photolithography step — only that stage needs to be re-examined."
After any answer: 'Continue' button appears to advance to Key Takeaways.
────────────────────────────────────────────────────────────
PRODUCTION NOTES
────────────────────────────────────────────────────────────
Animation: Option buttons highlight on hover with border glow.
Animation: On click — feedback overlay slides in from right with layered text.
Animation: Correct answer — celebratory micro-animation (stars/sparkle burst).
Animation: Incorrect answer — subtle shake effect on selected button.
Visual: Scenario text box styled as an engineering memo / alert card.
Visual: Engineer avatar in top-left corner for context.
VO Duration: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Summary — Key Takeaways
────────────────────────────────────────────────────────────
VOICEOVER SCRIPT
────────────────────────────────────────────────────────────
"Fantastic work — let's lock in what you've learned today. Six essential takeaways. One: semiconductors are controllable materials that form the backbone of all modern electronics. Two: silicon, purified from sand, is the key raw material. Three: photolithography and etching create circuits at the nanoscale using light and chemistry. Four: doping and deposition give transistors their electrical behavior and layered structure. Five: every chip passes rigorous testing before packaging. And six: the entire process — from grain of sand to finished chip — is a feat of atomic-level engineering, taking weeks to complete. Remarkable, isn't it?"
────────────────────────────────────────────────────────────
INTERACTION DESIGN
────────────────────────────────────────────────────────────
None — summary cards animate in as VO plays. No learner interaction required.
────────────────────────────────────────────────────────────
PRODUCTION NOTES
────────────────────────────────────────────────────────────
Animation: Six summary cards cascade in, 0.3s stagger, bottom-to-top reveal.
Animation: Each card number (01–06) glows teal on entry.
Visual: Progress counter at bottom — '6 of 6' fills in as cards appear.
Visual: Subtle background pattern — circuit-board texture, low opacity.
VO Duration: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Knowledge Check — Quiz (3 Questions)
────────────────────────────────────────────────────────────
VOICEOVER SCRIPT
────────────────────────────────────────────────────────────
"Let's do a quick knowledge check! Three questions to confirm what you've learned. Think back through the process steps, and select your answer for each question. In the interactive version of this course, you'll receive instant feedback after each choice — with an explanation of the correct answer. Ready? Let's go!"
────────────────────────────────────────────────────────────
INTERACTION DESIGN
────────────────────────────────────────────────────────────
Interaction Type: Three separate single-select quiz questions with instant feedback.
Q1 — Photolithography:
Correct: C. Photolithography
Feedback (correct): "Correct! Photolithography uses UV light to project a circuit pattern onto the photoresist-coated wafer."
Feedback (incorrect): "Not quite. Photolithography is the step that uses UV light to transfer circuit patterns."
Q2 — Purpose of Doping:
Correct: B. To alter silicon's electrical conductivity
Feedback (correct): "Correct! Doping adds impurities like boron or phosphorus to change how electricity moves through silicon."
Feedback (incorrect): "Not quite. Doping changes silicon's electrical properties, not its physical thickness or appearance."
Q3 — Sequence after Etching:
Correct: D. Doping &amp; Ion Implantation
Feedback (correct): "Correct! After etching removes unwanted material, doping introduces impurities to give silicon its electrical properties."
Feedback (incorrect): "Not quite. Review the 8-step process: Etching (Step 4) is followed by Doping &amp; Ion Implantation (Step 5)."
Score display at end: 3/3 = 'Expert!', 2/3 = 'Almost there!', 1/3 or 0/3 = 'Review the content and try again!'
────────────────────────────────────────────────────────────
PRODUCTION NOTES
────────────────────────────────────────────────────────────
Animation: Each question card fades in after the previous is answered.
Animation: Correct answer — green highlight + checkmark icon.
Animation: Incorrect answer — red highlight + X icon + explanation text slides in.
Visual: Progress bar across top: Question 1 / 2 / 3.
Visual: Score summary card appears after Q3 with final result.
VO Duration: ~20 seconds (intro only; questions are self-paced).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Course Closing — Congratulations
────────────────────────────────────────────────────────────
VOICEOVER SCRIPT
────────────────────────────────────────────────────────────
"And that's a wrap! You've just traveled from a grain of sand all the way to the finished chip powering your device. That journey spans weeks, thousands of process steps, and atomic-level precision — and now you understand every stage of it. The science and engineering behind each chip is truly remarkable. We hope this course has sparked your curiosity about the technology shaping our world. Great job completing it! Download your certificate using the button below, and keep exploring."
────────────────────────────────────────────────────────────
INTERACTION DESIGN
────────────────────────────────────────────────────────────
Interaction Type: Certificate download button.
Click 'Download Certificate' → triggers PDF certificate generation with learner name and completion date.
Optional: Share to LinkedIn button appears alongside download button.
────────────────────────────────────────────────────────────
PRODUCTION NOTES
────────────────────────────────────────────────────────────
Animation: Chip icon pulses with a golden glow on entry.
Animation: Congratulations text slides in from bottom with scale-up effect.
Animation: Certificate button glows and pulses to draw attention.
Visual: Confetti or particle burst effect on slide entry.
Visual: Links at bottom to related courses, glossary, and manufacturing tour video.
VO Duration: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solidFill>
                  <a:srgbClr val="111111"/>
                </a:solidFill>
              </a:rPr>
              <a:t>SLIDE TYPE: Task 2 — Instructional Design Rationale (Reviewer-Facing, Not Learner-Facing)
────────────────────────────────────────────────────────────
VOICEOVER SCRIPT
────────────────────────────────────────────────────────────
"N/A”
────────────────────────────────────────────────────────────
INTERACTION DESIGN
────────────────────────────────────────────────────────────
N/A — This is a supplementary documentation slide.
────────────────────────────────────────────────────────────
PRODUCTION NOTES
────────────────────────────────────────────────────────────
No animation required — static documentation slide.
Remove from final learner build before publishing.
For reviewer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274320" y="137160"/>
            <a:ext cx="91440" cy="91440"/>
          </a:xfrm>
          <a:prstGeom prst="ellipse">
            <a:avLst/>
          </a:prstGeom>
          <a:solidFill>
            <a:srgbClr val="00897B">
              <a:alpha val="60000"/>
            </a:srgbClr>
          </a:solidFill>
          <a:ln w="12700">
            <a:solidFill>
              <a:srgbClr val="00897B"/>
            </a:solidFill>
            <a:prstDash val="solid"/>
          </a:ln>
        </p:spPr>
      </p:sp>
      <p:sp>
        <p:nvSpPr>
          <p:cNvPr id="3" name="Shape 1"/>
          <p:cNvSpPr/>
          <p:nvPr/>
        </p:nvSpPr>
        <p:spPr>
          <a:xfrm>
            <a:off x="777240" y="137160"/>
            <a:ext cx="91440" cy="91440"/>
          </a:xfrm>
          <a:prstGeom prst="ellipse">
            <a:avLst/>
          </a:prstGeom>
          <a:solidFill>
            <a:srgbClr val="00897B">
              <a:alpha val="30000"/>
            </a:srgbClr>
          </a:solidFill>
          <a:ln w="12700">
            <a:solidFill>
              <a:srgbClr val="00897B"/>
            </a:solidFill>
            <a:prstDash val="solid"/>
          </a:ln>
        </p:spPr>
      </p:sp>
      <p:sp>
        <p:nvSpPr>
          <p:cNvPr id="4" name="Shape 2"/>
          <p:cNvSpPr/>
          <p:nvPr/>
        </p:nvSpPr>
        <p:spPr>
          <a:xfrm>
            <a:off x="1280160" y="137160"/>
            <a:ext cx="91440" cy="91440"/>
          </a:xfrm>
          <a:prstGeom prst="ellipse">
            <a:avLst/>
          </a:prstGeom>
          <a:solidFill>
            <a:srgbClr val="00897B">
              <a:alpha val="60000"/>
            </a:srgbClr>
          </a:solidFill>
          <a:ln w="12700">
            <a:solidFill>
              <a:srgbClr val="00897B"/>
            </a:solidFill>
            <a:prstDash val="solid"/>
          </a:ln>
        </p:spPr>
      </p:sp>
      <p:sp>
        <p:nvSpPr>
          <p:cNvPr id="5" name="Shape 3"/>
          <p:cNvSpPr/>
          <p:nvPr/>
        </p:nvSpPr>
        <p:spPr>
          <a:xfrm>
            <a:off x="1783080" y="137160"/>
            <a:ext cx="91440" cy="91440"/>
          </a:xfrm>
          <a:prstGeom prst="ellipse">
            <a:avLst/>
          </a:prstGeom>
          <a:solidFill>
            <a:srgbClr val="00897B">
              <a:alpha val="30000"/>
            </a:srgbClr>
          </a:solidFill>
          <a:ln w="12700">
            <a:solidFill>
              <a:srgbClr val="00897B"/>
            </a:solidFill>
            <a:prstDash val="solid"/>
          </a:ln>
        </p:spPr>
      </p:sp>
      <p:sp>
        <p:nvSpPr>
          <p:cNvPr id="6" name="Shape 4"/>
          <p:cNvSpPr/>
          <p:nvPr/>
        </p:nvSpPr>
        <p:spPr>
          <a:xfrm>
            <a:off x="2286000" y="137160"/>
            <a:ext cx="91440" cy="91440"/>
          </a:xfrm>
          <a:prstGeom prst="ellipse">
            <a:avLst/>
          </a:prstGeom>
          <a:solidFill>
            <a:srgbClr val="00897B">
              <a:alpha val="60000"/>
            </a:srgbClr>
          </a:solidFill>
          <a:ln w="12700">
            <a:solidFill>
              <a:srgbClr val="00897B"/>
            </a:solidFill>
            <a:prstDash val="solid"/>
          </a:ln>
        </p:spPr>
      </p:sp>
      <p:sp>
        <p:nvSpPr>
          <p:cNvPr id="7" name="Shape 5"/>
          <p:cNvSpPr/>
          <p:nvPr/>
        </p:nvSpPr>
        <p:spPr>
          <a:xfrm>
            <a:off x="2788920" y="137160"/>
            <a:ext cx="91440" cy="91440"/>
          </a:xfrm>
          <a:prstGeom prst="ellipse">
            <a:avLst/>
          </a:prstGeom>
          <a:solidFill>
            <a:srgbClr val="00897B">
              <a:alpha val="30000"/>
            </a:srgbClr>
          </a:solidFill>
          <a:ln w="12700">
            <a:solidFill>
              <a:srgbClr val="00897B"/>
            </a:solidFill>
            <a:prstDash val="solid"/>
          </a:ln>
        </p:spPr>
      </p:sp>
      <p:sp>
        <p:nvSpPr>
          <p:cNvPr id="8" name="Shape 6"/>
          <p:cNvSpPr/>
          <p:nvPr/>
        </p:nvSpPr>
        <p:spPr>
          <a:xfrm>
            <a:off x="3291840" y="137160"/>
            <a:ext cx="91440" cy="91440"/>
          </a:xfrm>
          <a:prstGeom prst="ellipse">
            <a:avLst/>
          </a:prstGeom>
          <a:solidFill>
            <a:srgbClr val="00897B">
              <a:alpha val="60000"/>
            </a:srgbClr>
          </a:solidFill>
          <a:ln w="12700">
            <a:solidFill>
              <a:srgbClr val="00897B"/>
            </a:solidFill>
            <a:prstDash val="solid"/>
          </a:ln>
        </p:spPr>
      </p:sp>
      <p:sp>
        <p:nvSpPr>
          <p:cNvPr id="9" name="Shape 7"/>
          <p:cNvSpPr/>
          <p:nvPr/>
        </p:nvSpPr>
        <p:spPr>
          <a:xfrm>
            <a:off x="3794760" y="137160"/>
            <a:ext cx="91440" cy="91440"/>
          </a:xfrm>
          <a:prstGeom prst="ellipse">
            <a:avLst/>
          </a:prstGeom>
          <a:solidFill>
            <a:srgbClr val="00897B">
              <a:alpha val="30000"/>
            </a:srgbClr>
          </a:solidFill>
          <a:ln w="12700">
            <a:solidFill>
              <a:srgbClr val="00897B"/>
            </a:solidFill>
            <a:prstDash val="solid"/>
          </a:ln>
        </p:spPr>
      </p:sp>
      <p:sp>
        <p:nvSpPr>
          <p:cNvPr id="10" name="Shape 8"/>
          <p:cNvSpPr/>
          <p:nvPr/>
        </p:nvSpPr>
        <p:spPr>
          <a:xfrm>
            <a:off x="4297680" y="137160"/>
            <a:ext cx="91440" cy="91440"/>
          </a:xfrm>
          <a:prstGeom prst="ellipse">
            <a:avLst/>
          </a:prstGeom>
          <a:solidFill>
            <a:srgbClr val="00897B">
              <a:alpha val="60000"/>
            </a:srgbClr>
          </a:solidFill>
          <a:ln w="12700">
            <a:solidFill>
              <a:srgbClr val="00897B"/>
            </a:solidFill>
            <a:prstDash val="solid"/>
          </a:ln>
        </p:spPr>
      </p:sp>
      <p:sp>
        <p:nvSpPr>
          <p:cNvPr id="11" name="Shape 9"/>
          <p:cNvSpPr/>
          <p:nvPr/>
        </p:nvSpPr>
        <p:spPr>
          <a:xfrm>
            <a:off x="4800600" y="137160"/>
            <a:ext cx="91440" cy="91440"/>
          </a:xfrm>
          <a:prstGeom prst="ellipse">
            <a:avLst/>
          </a:prstGeom>
          <a:solidFill>
            <a:srgbClr val="00897B">
              <a:alpha val="30000"/>
            </a:srgbClr>
          </a:solidFill>
          <a:ln w="12700">
            <a:solidFill>
              <a:srgbClr val="00897B"/>
            </a:solidFill>
            <a:prstDash val="solid"/>
          </a:ln>
        </p:spPr>
      </p:sp>
      <p:sp>
        <p:nvSpPr>
          <p:cNvPr id="12" name="Shape 10"/>
          <p:cNvSpPr/>
          <p:nvPr/>
        </p:nvSpPr>
        <p:spPr>
          <a:xfrm>
            <a:off x="5303520" y="137160"/>
            <a:ext cx="91440" cy="91440"/>
          </a:xfrm>
          <a:prstGeom prst="ellipse">
            <a:avLst/>
          </a:prstGeom>
          <a:solidFill>
            <a:srgbClr val="00897B">
              <a:alpha val="60000"/>
            </a:srgbClr>
          </a:solidFill>
          <a:ln w="12700">
            <a:solidFill>
              <a:srgbClr val="00897B"/>
            </a:solidFill>
            <a:prstDash val="solid"/>
          </a:ln>
        </p:spPr>
      </p:sp>
      <p:sp>
        <p:nvSpPr>
          <p:cNvPr id="13" name="Shape 11"/>
          <p:cNvSpPr/>
          <p:nvPr/>
        </p:nvSpPr>
        <p:spPr>
          <a:xfrm>
            <a:off x="5806440" y="137160"/>
            <a:ext cx="91440" cy="91440"/>
          </a:xfrm>
          <a:prstGeom prst="ellipse">
            <a:avLst/>
          </a:prstGeom>
          <a:solidFill>
            <a:srgbClr val="00897B">
              <a:alpha val="30000"/>
            </a:srgbClr>
          </a:solidFill>
          <a:ln w="12700">
            <a:solidFill>
              <a:srgbClr val="00897B"/>
            </a:solidFill>
            <a:prstDash val="solid"/>
          </a:ln>
        </p:spPr>
      </p:sp>
      <p:sp>
        <p:nvSpPr>
          <p:cNvPr id="14" name="Shape 12"/>
          <p:cNvSpPr/>
          <p:nvPr/>
        </p:nvSpPr>
        <p:spPr>
          <a:xfrm>
            <a:off x="6309360" y="137160"/>
            <a:ext cx="91440" cy="91440"/>
          </a:xfrm>
          <a:prstGeom prst="ellipse">
            <a:avLst/>
          </a:prstGeom>
          <a:solidFill>
            <a:srgbClr val="00897B">
              <a:alpha val="60000"/>
            </a:srgbClr>
          </a:solidFill>
          <a:ln w="12700">
            <a:solidFill>
              <a:srgbClr val="00897B"/>
            </a:solidFill>
            <a:prstDash val="solid"/>
          </a:ln>
        </p:spPr>
      </p:sp>
      <p:sp>
        <p:nvSpPr>
          <p:cNvPr id="15" name="Shape 13"/>
          <p:cNvSpPr/>
          <p:nvPr/>
        </p:nvSpPr>
        <p:spPr>
          <a:xfrm>
            <a:off x="6812280" y="137160"/>
            <a:ext cx="91440" cy="91440"/>
          </a:xfrm>
          <a:prstGeom prst="ellipse">
            <a:avLst/>
          </a:prstGeom>
          <a:solidFill>
            <a:srgbClr val="00897B">
              <a:alpha val="30000"/>
            </a:srgbClr>
          </a:solidFill>
          <a:ln w="12700">
            <a:solidFill>
              <a:srgbClr val="00897B"/>
            </a:solidFill>
            <a:prstDash val="solid"/>
          </a:ln>
        </p:spPr>
      </p:sp>
      <p:sp>
        <p:nvSpPr>
          <p:cNvPr id="16" name="Shape 14"/>
          <p:cNvSpPr/>
          <p:nvPr/>
        </p:nvSpPr>
        <p:spPr>
          <a:xfrm>
            <a:off x="7315200" y="137160"/>
            <a:ext cx="91440" cy="91440"/>
          </a:xfrm>
          <a:prstGeom prst="ellipse">
            <a:avLst/>
          </a:prstGeom>
          <a:solidFill>
            <a:srgbClr val="00897B">
              <a:alpha val="60000"/>
            </a:srgbClr>
          </a:solidFill>
          <a:ln w="12700">
            <a:solidFill>
              <a:srgbClr val="00897B"/>
            </a:solidFill>
            <a:prstDash val="solid"/>
          </a:ln>
        </p:spPr>
      </p:sp>
      <p:sp>
        <p:nvSpPr>
          <p:cNvPr id="17" name="Shape 15"/>
          <p:cNvSpPr/>
          <p:nvPr/>
        </p:nvSpPr>
        <p:spPr>
          <a:xfrm>
            <a:off x="7818120" y="137160"/>
            <a:ext cx="91440" cy="91440"/>
          </a:xfrm>
          <a:prstGeom prst="ellipse">
            <a:avLst/>
          </a:prstGeom>
          <a:solidFill>
            <a:srgbClr val="00897B">
              <a:alpha val="30000"/>
            </a:srgbClr>
          </a:solidFill>
          <a:ln w="12700">
            <a:solidFill>
              <a:srgbClr val="00897B"/>
            </a:solidFill>
            <a:prstDash val="solid"/>
          </a:ln>
        </p:spPr>
      </p:sp>
      <p:sp>
        <p:nvSpPr>
          <p:cNvPr id="18" name="Shape 16"/>
          <p:cNvSpPr/>
          <p:nvPr/>
        </p:nvSpPr>
        <p:spPr>
          <a:xfrm>
            <a:off x="8321040" y="137160"/>
            <a:ext cx="91440" cy="91440"/>
          </a:xfrm>
          <a:prstGeom prst="ellipse">
            <a:avLst/>
          </a:prstGeom>
          <a:solidFill>
            <a:srgbClr val="00897B">
              <a:alpha val="60000"/>
            </a:srgbClr>
          </a:solidFill>
          <a:ln w="12700">
            <a:solidFill>
              <a:srgbClr val="00897B"/>
            </a:solidFill>
            <a:prstDash val="solid"/>
          </a:ln>
        </p:spPr>
      </p:sp>
      <p:sp>
        <p:nvSpPr>
          <p:cNvPr id="19" name="Shape 17"/>
          <p:cNvSpPr/>
          <p:nvPr/>
        </p:nvSpPr>
        <p:spPr>
          <a:xfrm>
            <a:off x="8823960" y="137160"/>
            <a:ext cx="91440" cy="91440"/>
          </a:xfrm>
          <a:prstGeom prst="ellipse">
            <a:avLst/>
          </a:prstGeom>
          <a:solidFill>
            <a:srgbClr val="00897B">
              <a:alpha val="30000"/>
            </a:srgbClr>
          </a:solidFill>
          <a:ln w="12700">
            <a:solidFill>
              <a:srgbClr val="00897B"/>
            </a:solidFill>
            <a:prstDash val="solid"/>
          </a:ln>
        </p:spPr>
      </p:sp>
      <p:sp>
        <p:nvSpPr>
          <p:cNvPr id="20" name="Shape 18"/>
          <p:cNvSpPr/>
          <p:nvPr/>
        </p:nvSpPr>
        <p:spPr>
          <a:xfrm>
            <a:off x="0" y="274320"/>
            <a:ext cx="9144000" cy="36576"/>
          </a:xfrm>
          <a:prstGeom prst="rect">
            <a:avLst/>
          </a:prstGeom>
          <a:solidFill>
            <a:srgbClr val="00897B">
              <a:alpha val="40000"/>
            </a:srgbClr>
          </a:solidFill>
          <a:ln w="12700">
            <a:solidFill>
              <a:srgbClr val="00897B"/>
            </a:solidFill>
            <a:prstDash val="solid"/>
          </a:ln>
        </p:spPr>
      </p:sp>
      <p:sp>
        <p:nvSpPr>
          <p:cNvPr id="21" name="Shape 19"/>
          <p:cNvSpPr/>
          <p:nvPr/>
        </p:nvSpPr>
        <p:spPr>
          <a:xfrm>
            <a:off x="411480" y="1005840"/>
            <a:ext cx="91440" cy="2926080"/>
          </a:xfrm>
          <a:prstGeom prst="rect">
            <a:avLst/>
          </a:prstGeom>
          <a:solidFill>
            <a:srgbClr val="00BCD4"/>
          </a:solidFill>
          <a:ln w="12700">
            <a:solidFill>
              <a:srgbClr val="00BCD4"/>
            </a:solidFill>
            <a:prstDash val="solid"/>
          </a:ln>
        </p:spPr>
      </p:sp>
      <p:pic>
        <p:nvPicPr>
          <p:cNvPr id="22" name="Image 0" descr="preencoded.png"/>
          <p:cNvPicPr>
            <a:picLocks noChangeAspect="1"/>
          </p:cNvPicPr>
          <p:nvPr/>
        </p:nvPicPr>
        <p:blipFill>
          <a:blip r:embed="rId3"/>
          <a:stretch>
            <a:fillRect/>
          </a:stretch>
        </p:blipFill>
        <p:spPr>
          <a:xfrm>
            <a:off x="640080" y="914400"/>
            <a:ext cx="1005840" cy="1005840"/>
          </a:xfrm>
          <a:prstGeom prst="rect">
            <a:avLst/>
          </a:prstGeom>
        </p:spPr>
      </p:pic>
      <p:sp>
        <p:nvSpPr>
          <p:cNvPr id="23" name="Text 20"/>
          <p:cNvSpPr/>
          <p:nvPr/>
        </p:nvSpPr>
        <p:spPr>
          <a:xfrm>
            <a:off x="1737360" y="960120"/>
            <a:ext cx="6583680" cy="777240"/>
          </a:xfrm>
          <a:prstGeom prst="rect">
            <a:avLst/>
          </a:prstGeom>
          <a:noFill/>
          <a:ln/>
        </p:spPr>
        <p:txBody>
          <a:bodyPr wrap="square" lIns="0" tIns="0" rIns="0" bIns="0" rtlCol="0" anchor="ctr"/>
          <a:lstStyle/>
          <a:p>
            <a:pPr marL="0" indent="0" algn="l">
              <a:buNone/>
            </a:pPr>
            <a:r>
              <a:rPr lang="en-US" sz="4000" b="1" dirty="0">
                <a:solidFill>
                  <a:srgbClr val="FFFFFF"/>
                </a:solidFill>
                <a:latin typeface="Trebuchet MS" pitchFamily="34" charset="0"/>
                <a:ea typeface="Trebuchet MS" pitchFamily="34" charset="-122"/>
                <a:cs typeface="Trebuchet MS" pitchFamily="34" charset="-120"/>
              </a:rPr>
              <a:t>Manufacturing Process</a:t>
            </a:r>
            <a:endParaRPr lang="en-US" sz="4000" dirty="0"/>
          </a:p>
        </p:txBody>
      </p:sp>
      <p:sp>
        <p:nvSpPr>
          <p:cNvPr id="24" name="Text 21"/>
          <p:cNvSpPr/>
          <p:nvPr/>
        </p:nvSpPr>
        <p:spPr>
          <a:xfrm>
            <a:off x="1737360" y="1664208"/>
            <a:ext cx="6583680" cy="777240"/>
          </a:xfrm>
          <a:prstGeom prst="rect">
            <a:avLst/>
          </a:prstGeom>
          <a:noFill/>
          <a:ln/>
        </p:spPr>
        <p:txBody>
          <a:bodyPr wrap="square" lIns="0" tIns="0" rIns="0" bIns="0" rtlCol="0" anchor="ctr"/>
          <a:lstStyle/>
          <a:p>
            <a:pPr marL="0" indent="0" algn="l">
              <a:buNone/>
            </a:pPr>
            <a:r>
              <a:rPr lang="en-US" sz="4000" b="1" dirty="0">
                <a:solidFill>
                  <a:srgbClr val="00BCD4"/>
                </a:solidFill>
                <a:latin typeface="Trebuchet MS" pitchFamily="34" charset="0"/>
                <a:ea typeface="Trebuchet MS" pitchFamily="34" charset="-122"/>
                <a:cs typeface="Trebuchet MS" pitchFamily="34" charset="-120"/>
              </a:rPr>
              <a:t>of Semiconductors</a:t>
            </a:r>
            <a:endParaRPr lang="en-US" sz="4000" dirty="0"/>
          </a:p>
        </p:txBody>
      </p:sp>
      <p:sp>
        <p:nvSpPr>
          <p:cNvPr id="25" name="Text 22"/>
          <p:cNvSpPr/>
          <p:nvPr/>
        </p:nvSpPr>
        <p:spPr>
          <a:xfrm>
            <a:off x="1737360" y="2514600"/>
            <a:ext cx="6400800" cy="502920"/>
          </a:xfrm>
          <a:prstGeom prst="rect">
            <a:avLst/>
          </a:prstGeom>
          <a:noFill/>
          <a:ln/>
        </p:spPr>
        <p:txBody>
          <a:bodyPr wrap="square" lIns="0" tIns="0" rIns="0" bIns="0" rtlCol="0" anchor="ctr"/>
          <a:lstStyle/>
          <a:p>
            <a:pPr marL="0" indent="0" algn="l">
              <a:buNone/>
            </a:pPr>
            <a:r>
              <a:rPr lang="en-US" sz="1500" i="1" dirty="0">
                <a:solidFill>
                  <a:srgbClr val="B0BEC5"/>
                </a:solidFill>
                <a:latin typeface="Calibri" pitchFamily="34" charset="0"/>
                <a:ea typeface="Calibri" pitchFamily="34" charset="-122"/>
                <a:cs typeface="Calibri" pitchFamily="34" charset="-120"/>
              </a:rPr>
              <a:t>From Sand to Silicon: Understanding the Chip Manufacturing Journey</a:t>
            </a:r>
            <a:endParaRPr lang="en-US" sz="1500" dirty="0"/>
          </a:p>
        </p:txBody>
      </p:sp>
      <p:sp>
        <p:nvSpPr>
          <p:cNvPr id="26" name="Shape 23"/>
          <p:cNvSpPr/>
          <p:nvPr/>
        </p:nvSpPr>
        <p:spPr>
          <a:xfrm>
            <a:off x="1737360" y="3200400"/>
            <a:ext cx="2194560" cy="384048"/>
          </a:xfrm>
          <a:prstGeom prst="roundRect">
            <a:avLst>
              <a:gd name="adj" fmla="val 19048"/>
            </a:avLst>
          </a:prstGeom>
          <a:solidFill>
            <a:srgbClr val="00897B">
              <a:alpha val="70000"/>
            </a:srgbClr>
          </a:solidFill>
          <a:ln w="12700">
            <a:solidFill>
              <a:srgbClr val="00897B"/>
            </a:solidFill>
            <a:prstDash val="solid"/>
          </a:ln>
        </p:spPr>
      </p:sp>
      <p:sp>
        <p:nvSpPr>
          <p:cNvPr id="27" name="Text 24"/>
          <p:cNvSpPr/>
          <p:nvPr/>
        </p:nvSpPr>
        <p:spPr>
          <a:xfrm>
            <a:off x="1737360" y="3200400"/>
            <a:ext cx="219456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Duration: 6 min</a:t>
            </a:r>
            <a:endParaRPr lang="en-US" sz="1100" dirty="0"/>
          </a:p>
        </p:txBody>
      </p:sp>
      <p:sp>
        <p:nvSpPr>
          <p:cNvPr id="28" name="Shape 25"/>
          <p:cNvSpPr/>
          <p:nvPr/>
        </p:nvSpPr>
        <p:spPr>
          <a:xfrm>
            <a:off x="4206240" y="3200400"/>
            <a:ext cx="2194560" cy="384048"/>
          </a:xfrm>
          <a:prstGeom prst="roundRect">
            <a:avLst>
              <a:gd name="adj" fmla="val 19048"/>
            </a:avLst>
          </a:prstGeom>
          <a:solidFill>
            <a:srgbClr val="00897B">
              <a:alpha val="70000"/>
            </a:srgbClr>
          </a:solidFill>
          <a:ln w="12700">
            <a:solidFill>
              <a:srgbClr val="00897B"/>
            </a:solidFill>
            <a:prstDash val="solid"/>
          </a:ln>
        </p:spPr>
      </p:sp>
      <p:sp>
        <p:nvSpPr>
          <p:cNvPr id="29" name="Text 26"/>
          <p:cNvSpPr/>
          <p:nvPr/>
        </p:nvSpPr>
        <p:spPr>
          <a:xfrm>
            <a:off x="4206240" y="3200400"/>
            <a:ext cx="219456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Level: Beginner</a:t>
            </a:r>
            <a:endParaRPr lang="en-US" sz="1100" dirty="0"/>
          </a:p>
        </p:txBody>
      </p:sp>
      <p:sp>
        <p:nvSpPr>
          <p:cNvPr id="30" name="Shape 27"/>
          <p:cNvSpPr/>
          <p:nvPr/>
        </p:nvSpPr>
        <p:spPr>
          <a:xfrm>
            <a:off x="6675120" y="3200400"/>
            <a:ext cx="2194560" cy="384048"/>
          </a:xfrm>
          <a:prstGeom prst="roundRect">
            <a:avLst>
              <a:gd name="adj" fmla="val 19048"/>
            </a:avLst>
          </a:prstGeom>
          <a:solidFill>
            <a:srgbClr val="00897B">
              <a:alpha val="70000"/>
            </a:srgbClr>
          </a:solidFill>
          <a:ln w="12700">
            <a:solidFill>
              <a:srgbClr val="00897B"/>
            </a:solidFill>
            <a:prstDash val="solid"/>
          </a:ln>
        </p:spPr>
      </p:sp>
      <p:sp>
        <p:nvSpPr>
          <p:cNvPr id="31" name="Text 28"/>
          <p:cNvSpPr/>
          <p:nvPr/>
        </p:nvSpPr>
        <p:spPr>
          <a:xfrm>
            <a:off x="6675120" y="3200400"/>
            <a:ext cx="219456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Animation-Based</a:t>
            </a:r>
            <a:endParaRPr lang="en-US" sz="1100" dirty="0"/>
          </a:p>
        </p:txBody>
      </p:sp>
      <p:sp>
        <p:nvSpPr>
          <p:cNvPr id="32" name="Shape 29"/>
          <p:cNvSpPr/>
          <p:nvPr/>
        </p:nvSpPr>
        <p:spPr>
          <a:xfrm>
            <a:off x="0" y="4754880"/>
            <a:ext cx="457200" cy="388620"/>
          </a:xfrm>
          <a:prstGeom prst="rect">
            <a:avLst/>
          </a:prstGeom>
          <a:solidFill>
            <a:srgbClr val="1565C0">
              <a:alpha val="20000"/>
            </a:srgbClr>
          </a:solidFill>
          <a:ln w="12700">
            <a:solidFill>
              <a:srgbClr val="1565C0"/>
            </a:solidFill>
            <a:prstDash val="solid"/>
          </a:ln>
        </p:spPr>
      </p:sp>
      <p:sp>
        <p:nvSpPr>
          <p:cNvPr id="33" name="Shape 30"/>
          <p:cNvSpPr/>
          <p:nvPr/>
        </p:nvSpPr>
        <p:spPr>
          <a:xfrm>
            <a:off x="457200" y="4754880"/>
            <a:ext cx="457200" cy="388620"/>
          </a:xfrm>
          <a:prstGeom prst="rect">
            <a:avLst/>
          </a:prstGeom>
          <a:solidFill>
            <a:srgbClr val="1565C0">
              <a:alpha val="24000"/>
            </a:srgbClr>
          </a:solidFill>
          <a:ln w="12700">
            <a:solidFill>
              <a:srgbClr val="1565C0"/>
            </a:solidFill>
            <a:prstDash val="solid"/>
          </a:ln>
        </p:spPr>
      </p:sp>
      <p:sp>
        <p:nvSpPr>
          <p:cNvPr id="34" name="Shape 31"/>
          <p:cNvSpPr/>
          <p:nvPr/>
        </p:nvSpPr>
        <p:spPr>
          <a:xfrm>
            <a:off x="914400" y="4754880"/>
            <a:ext cx="457200" cy="388620"/>
          </a:xfrm>
          <a:prstGeom prst="rect">
            <a:avLst/>
          </a:prstGeom>
          <a:solidFill>
            <a:srgbClr val="1565C0">
              <a:alpha val="28000"/>
            </a:srgbClr>
          </a:solidFill>
          <a:ln w="12700">
            <a:solidFill>
              <a:srgbClr val="1565C0"/>
            </a:solidFill>
            <a:prstDash val="solid"/>
          </a:ln>
        </p:spPr>
      </p:sp>
      <p:sp>
        <p:nvSpPr>
          <p:cNvPr id="35" name="Shape 32"/>
          <p:cNvSpPr/>
          <p:nvPr/>
        </p:nvSpPr>
        <p:spPr>
          <a:xfrm>
            <a:off x="1371600" y="4754880"/>
            <a:ext cx="457200" cy="388620"/>
          </a:xfrm>
          <a:prstGeom prst="rect">
            <a:avLst/>
          </a:prstGeom>
          <a:solidFill>
            <a:srgbClr val="1565C0">
              <a:alpha val="32000"/>
            </a:srgbClr>
          </a:solidFill>
          <a:ln w="12700">
            <a:solidFill>
              <a:srgbClr val="1565C0"/>
            </a:solidFill>
            <a:prstDash val="solid"/>
          </a:ln>
        </p:spPr>
      </p:sp>
      <p:sp>
        <p:nvSpPr>
          <p:cNvPr id="36" name="Shape 33"/>
          <p:cNvSpPr/>
          <p:nvPr/>
        </p:nvSpPr>
        <p:spPr>
          <a:xfrm>
            <a:off x="1828800" y="4754880"/>
            <a:ext cx="457200" cy="388620"/>
          </a:xfrm>
          <a:prstGeom prst="rect">
            <a:avLst/>
          </a:prstGeom>
          <a:solidFill>
            <a:srgbClr val="1565C0">
              <a:alpha val="36000"/>
            </a:srgbClr>
          </a:solidFill>
          <a:ln w="12700">
            <a:solidFill>
              <a:srgbClr val="1565C0"/>
            </a:solidFill>
            <a:prstDash val="solid"/>
          </a:ln>
        </p:spPr>
      </p:sp>
      <p:sp>
        <p:nvSpPr>
          <p:cNvPr id="37" name="Shape 34"/>
          <p:cNvSpPr/>
          <p:nvPr/>
        </p:nvSpPr>
        <p:spPr>
          <a:xfrm>
            <a:off x="2286000" y="4754880"/>
            <a:ext cx="457200" cy="388620"/>
          </a:xfrm>
          <a:prstGeom prst="rect">
            <a:avLst/>
          </a:prstGeom>
          <a:solidFill>
            <a:srgbClr val="1565C0">
              <a:alpha val="40000"/>
            </a:srgbClr>
          </a:solidFill>
          <a:ln w="12700">
            <a:solidFill>
              <a:srgbClr val="1565C0"/>
            </a:solidFill>
            <a:prstDash val="solid"/>
          </a:ln>
        </p:spPr>
      </p:sp>
      <p:sp>
        <p:nvSpPr>
          <p:cNvPr id="38" name="Shape 35"/>
          <p:cNvSpPr/>
          <p:nvPr/>
        </p:nvSpPr>
        <p:spPr>
          <a:xfrm>
            <a:off x="2743200" y="4754880"/>
            <a:ext cx="457200" cy="388620"/>
          </a:xfrm>
          <a:prstGeom prst="rect">
            <a:avLst/>
          </a:prstGeom>
          <a:solidFill>
            <a:srgbClr val="1565C0">
              <a:alpha val="44000"/>
            </a:srgbClr>
          </a:solidFill>
          <a:ln w="12700">
            <a:solidFill>
              <a:srgbClr val="1565C0"/>
            </a:solidFill>
            <a:prstDash val="solid"/>
          </a:ln>
        </p:spPr>
      </p:sp>
      <p:sp>
        <p:nvSpPr>
          <p:cNvPr id="39" name="Shape 36"/>
          <p:cNvSpPr/>
          <p:nvPr/>
        </p:nvSpPr>
        <p:spPr>
          <a:xfrm>
            <a:off x="3200400" y="4754880"/>
            <a:ext cx="457200" cy="388620"/>
          </a:xfrm>
          <a:prstGeom prst="rect">
            <a:avLst/>
          </a:prstGeom>
          <a:solidFill>
            <a:srgbClr val="1565C0">
              <a:alpha val="48000"/>
            </a:srgbClr>
          </a:solidFill>
          <a:ln w="12700">
            <a:solidFill>
              <a:srgbClr val="1565C0"/>
            </a:solidFill>
            <a:prstDash val="solid"/>
          </a:ln>
        </p:spPr>
      </p:sp>
      <p:sp>
        <p:nvSpPr>
          <p:cNvPr id="40" name="Shape 37"/>
          <p:cNvSpPr/>
          <p:nvPr/>
        </p:nvSpPr>
        <p:spPr>
          <a:xfrm>
            <a:off x="3657600" y="4754880"/>
            <a:ext cx="457200" cy="388620"/>
          </a:xfrm>
          <a:prstGeom prst="rect">
            <a:avLst/>
          </a:prstGeom>
          <a:solidFill>
            <a:srgbClr val="1565C0">
              <a:alpha val="52000"/>
            </a:srgbClr>
          </a:solidFill>
          <a:ln w="12700">
            <a:solidFill>
              <a:srgbClr val="1565C0"/>
            </a:solidFill>
            <a:prstDash val="solid"/>
          </a:ln>
        </p:spPr>
      </p:sp>
      <p:sp>
        <p:nvSpPr>
          <p:cNvPr id="41" name="Shape 38"/>
          <p:cNvSpPr/>
          <p:nvPr/>
        </p:nvSpPr>
        <p:spPr>
          <a:xfrm>
            <a:off x="4114800" y="4754880"/>
            <a:ext cx="457200" cy="388620"/>
          </a:xfrm>
          <a:prstGeom prst="rect">
            <a:avLst/>
          </a:prstGeom>
          <a:solidFill>
            <a:srgbClr val="1565C0">
              <a:alpha val="56000"/>
            </a:srgbClr>
          </a:solidFill>
          <a:ln w="12700">
            <a:solidFill>
              <a:srgbClr val="1565C0"/>
            </a:solidFill>
            <a:prstDash val="solid"/>
          </a:ln>
        </p:spPr>
      </p:sp>
      <p:sp>
        <p:nvSpPr>
          <p:cNvPr id="42" name="Shape 39"/>
          <p:cNvSpPr/>
          <p:nvPr/>
        </p:nvSpPr>
        <p:spPr>
          <a:xfrm>
            <a:off x="4572000" y="4754880"/>
            <a:ext cx="457200" cy="388620"/>
          </a:xfrm>
          <a:prstGeom prst="rect">
            <a:avLst/>
          </a:prstGeom>
          <a:solidFill>
            <a:srgbClr val="1565C0">
              <a:alpha val="60000"/>
            </a:srgbClr>
          </a:solidFill>
          <a:ln w="12700">
            <a:solidFill>
              <a:srgbClr val="1565C0"/>
            </a:solidFill>
            <a:prstDash val="solid"/>
          </a:ln>
        </p:spPr>
      </p:sp>
      <p:sp>
        <p:nvSpPr>
          <p:cNvPr id="43" name="Shape 40"/>
          <p:cNvSpPr/>
          <p:nvPr/>
        </p:nvSpPr>
        <p:spPr>
          <a:xfrm>
            <a:off x="5029200" y="4754880"/>
            <a:ext cx="457200" cy="388620"/>
          </a:xfrm>
          <a:prstGeom prst="rect">
            <a:avLst/>
          </a:prstGeom>
          <a:solidFill>
            <a:srgbClr val="1565C0">
              <a:alpha val="64000"/>
            </a:srgbClr>
          </a:solidFill>
          <a:ln w="12700">
            <a:solidFill>
              <a:srgbClr val="1565C0"/>
            </a:solidFill>
            <a:prstDash val="solid"/>
          </a:ln>
        </p:spPr>
      </p:sp>
      <p:sp>
        <p:nvSpPr>
          <p:cNvPr id="44" name="Shape 41"/>
          <p:cNvSpPr/>
          <p:nvPr/>
        </p:nvSpPr>
        <p:spPr>
          <a:xfrm>
            <a:off x="5486400" y="4754880"/>
            <a:ext cx="457200" cy="388620"/>
          </a:xfrm>
          <a:prstGeom prst="rect">
            <a:avLst/>
          </a:prstGeom>
          <a:solidFill>
            <a:srgbClr val="1565C0">
              <a:alpha val="68000"/>
            </a:srgbClr>
          </a:solidFill>
          <a:ln w="12700">
            <a:solidFill>
              <a:srgbClr val="1565C0"/>
            </a:solidFill>
            <a:prstDash val="solid"/>
          </a:ln>
        </p:spPr>
      </p:sp>
      <p:sp>
        <p:nvSpPr>
          <p:cNvPr id="45" name="Shape 42"/>
          <p:cNvSpPr/>
          <p:nvPr/>
        </p:nvSpPr>
        <p:spPr>
          <a:xfrm>
            <a:off x="5943600" y="4754880"/>
            <a:ext cx="457200" cy="388620"/>
          </a:xfrm>
          <a:prstGeom prst="rect">
            <a:avLst/>
          </a:prstGeom>
          <a:solidFill>
            <a:srgbClr val="1565C0">
              <a:alpha val="72000"/>
            </a:srgbClr>
          </a:solidFill>
          <a:ln w="12700">
            <a:solidFill>
              <a:srgbClr val="1565C0"/>
            </a:solidFill>
            <a:prstDash val="solid"/>
          </a:ln>
        </p:spPr>
      </p:sp>
      <p:sp>
        <p:nvSpPr>
          <p:cNvPr id="46" name="Shape 43"/>
          <p:cNvSpPr/>
          <p:nvPr/>
        </p:nvSpPr>
        <p:spPr>
          <a:xfrm>
            <a:off x="6400800" y="4754880"/>
            <a:ext cx="457200" cy="388620"/>
          </a:xfrm>
          <a:prstGeom prst="rect">
            <a:avLst/>
          </a:prstGeom>
          <a:solidFill>
            <a:srgbClr val="1565C0">
              <a:alpha val="76000"/>
            </a:srgbClr>
          </a:solidFill>
          <a:ln w="12700">
            <a:solidFill>
              <a:srgbClr val="1565C0"/>
            </a:solidFill>
            <a:prstDash val="solid"/>
          </a:ln>
        </p:spPr>
      </p:sp>
      <p:sp>
        <p:nvSpPr>
          <p:cNvPr id="47" name="Shape 44"/>
          <p:cNvSpPr/>
          <p:nvPr/>
        </p:nvSpPr>
        <p:spPr>
          <a:xfrm>
            <a:off x="6858000" y="4754880"/>
            <a:ext cx="457200" cy="388620"/>
          </a:xfrm>
          <a:prstGeom prst="rect">
            <a:avLst/>
          </a:prstGeom>
          <a:solidFill>
            <a:srgbClr val="1565C0">
              <a:alpha val="80000"/>
            </a:srgbClr>
          </a:solidFill>
          <a:ln w="12700">
            <a:solidFill>
              <a:srgbClr val="1565C0"/>
            </a:solidFill>
            <a:prstDash val="solid"/>
          </a:ln>
        </p:spPr>
      </p:sp>
      <p:sp>
        <p:nvSpPr>
          <p:cNvPr id="48" name="Shape 45"/>
          <p:cNvSpPr/>
          <p:nvPr/>
        </p:nvSpPr>
        <p:spPr>
          <a:xfrm>
            <a:off x="7315200" y="4754880"/>
            <a:ext cx="457200" cy="388620"/>
          </a:xfrm>
          <a:prstGeom prst="rect">
            <a:avLst/>
          </a:prstGeom>
          <a:solidFill>
            <a:srgbClr val="1565C0">
              <a:alpha val="84000"/>
            </a:srgbClr>
          </a:solidFill>
          <a:ln w="12700">
            <a:solidFill>
              <a:srgbClr val="1565C0"/>
            </a:solidFill>
            <a:prstDash val="solid"/>
          </a:ln>
        </p:spPr>
      </p:sp>
      <p:sp>
        <p:nvSpPr>
          <p:cNvPr id="49" name="Shape 46"/>
          <p:cNvSpPr/>
          <p:nvPr/>
        </p:nvSpPr>
        <p:spPr>
          <a:xfrm>
            <a:off x="7772400" y="4754880"/>
            <a:ext cx="457200" cy="388620"/>
          </a:xfrm>
          <a:prstGeom prst="rect">
            <a:avLst/>
          </a:prstGeom>
          <a:solidFill>
            <a:srgbClr val="1565C0">
              <a:alpha val="88000"/>
            </a:srgbClr>
          </a:solidFill>
          <a:ln w="12700">
            <a:solidFill>
              <a:srgbClr val="1565C0"/>
            </a:solidFill>
            <a:prstDash val="solid"/>
          </a:ln>
        </p:spPr>
      </p:sp>
      <p:sp>
        <p:nvSpPr>
          <p:cNvPr id="50" name="Shape 47"/>
          <p:cNvSpPr/>
          <p:nvPr/>
        </p:nvSpPr>
        <p:spPr>
          <a:xfrm>
            <a:off x="8229600" y="4754880"/>
            <a:ext cx="457200" cy="388620"/>
          </a:xfrm>
          <a:prstGeom prst="rect">
            <a:avLst/>
          </a:prstGeom>
          <a:solidFill>
            <a:srgbClr val="1565C0">
              <a:alpha val="92000"/>
            </a:srgbClr>
          </a:solidFill>
          <a:ln w="12700">
            <a:solidFill>
              <a:srgbClr val="1565C0"/>
            </a:solidFill>
            <a:prstDash val="solid"/>
          </a:ln>
        </p:spPr>
      </p:sp>
      <p:sp>
        <p:nvSpPr>
          <p:cNvPr id="51" name="Shape 48"/>
          <p:cNvSpPr/>
          <p:nvPr/>
        </p:nvSpPr>
        <p:spPr>
          <a:xfrm>
            <a:off x="8686800" y="4754880"/>
            <a:ext cx="457200" cy="388620"/>
          </a:xfrm>
          <a:prstGeom prst="rect">
            <a:avLst/>
          </a:prstGeom>
          <a:solidFill>
            <a:srgbClr val="1565C0">
              <a:alpha val="96000"/>
            </a:srgbClr>
          </a:solidFill>
          <a:ln w="12700">
            <a:solidFill>
              <a:srgbClr val="1565C0"/>
            </a:solidFill>
            <a:prstDash val="solid"/>
          </a:ln>
        </p:spPr>
      </p:sp>
      <p:sp>
        <p:nvSpPr>
          <p:cNvPr id="52" name="Text 49"/>
          <p:cNvSpPr/>
          <p:nvPr/>
        </p:nvSpPr>
        <p:spPr>
          <a:xfrm>
            <a:off x="0" y="4754880"/>
            <a:ext cx="9144000" cy="388620"/>
          </a:xfrm>
          <a:prstGeom prst="rect">
            <a:avLst/>
          </a:prstGeom>
          <a:noFill/>
          <a:ln/>
        </p:spPr>
        <p:txBody>
          <a:bodyPr wrap="square" lIns="0" tIns="0" rIns="0" bIns="0" rtlCol="0" anchor="ctr"/>
          <a:lstStyle/>
          <a:p>
            <a:pPr marL="0" indent="0" algn="ctr">
              <a:buNone/>
            </a:pPr>
            <a:r>
              <a:rPr lang="en-US" sz="900" dirty="0">
                <a:solidFill>
                  <a:srgbClr val="B0BEC5"/>
                </a:solidFill>
                <a:latin typeface="Calibri" pitchFamily="34" charset="0"/>
                <a:ea typeface="Calibri" pitchFamily="34" charset="-122"/>
                <a:cs typeface="Calibri" pitchFamily="34" charset="-120"/>
              </a:rPr>
              <a:t>Slide 1 of 12  |  Visual Storyboard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1D3A"/>
          </a:solidFill>
          <a:ln w="12700">
            <a:solidFill>
              <a:srgbClr val="0B1D3A"/>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2 of 12</a:t>
            </a:r>
            <a:endParaRPr lang="en-US" sz="1000" dirty="0"/>
          </a:p>
        </p:txBody>
      </p:sp>
      <p:sp>
        <p:nvSpPr>
          <p:cNvPr id="4" name="Shape 2"/>
          <p:cNvSpPr/>
          <p:nvPr/>
        </p:nvSpPr>
        <p:spPr>
          <a:xfrm>
            <a:off x="457200" y="640080"/>
            <a:ext cx="2286000" cy="347472"/>
          </a:xfrm>
          <a:prstGeom prst="roundRect">
            <a:avLst>
              <a:gd name="adj" fmla="val 21053"/>
            </a:avLst>
          </a:prstGeom>
          <a:solidFill>
            <a:srgbClr val="00897B"/>
          </a:solidFill>
          <a:ln w="12700">
            <a:solidFill>
              <a:srgbClr val="00897B"/>
            </a:solidFill>
            <a:prstDash val="solid"/>
          </a:ln>
        </p:spPr>
      </p:sp>
      <p:sp>
        <p:nvSpPr>
          <p:cNvPr id="5" name="Text 3"/>
          <p:cNvSpPr/>
          <p:nvPr/>
        </p:nvSpPr>
        <p:spPr>
          <a:xfrm>
            <a:off x="457200" y="640080"/>
            <a:ext cx="228600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LEARNING OBJECTIVES</a:t>
            </a:r>
            <a:endParaRPr lang="en-US" sz="1000" dirty="0"/>
          </a:p>
        </p:txBody>
      </p:sp>
      <p:sp>
        <p:nvSpPr>
          <p:cNvPr id="6" name="Text 4"/>
          <p:cNvSpPr/>
          <p:nvPr/>
        </p:nvSpPr>
        <p:spPr>
          <a:xfrm>
            <a:off x="457200" y="1051560"/>
            <a:ext cx="8229600" cy="594360"/>
          </a:xfrm>
          <a:prstGeom prst="rect">
            <a:avLst/>
          </a:prstGeom>
          <a:noFill/>
          <a:ln/>
        </p:spPr>
        <p:txBody>
          <a:bodyPr wrap="square" lIns="0" tIns="0" rIns="0" bIns="0" rtlCol="0" anchor="ctr"/>
          <a:lstStyle/>
          <a:p>
            <a:pPr marL="0" indent="0" algn="l">
              <a:buNone/>
            </a:pPr>
            <a:r>
              <a:rPr lang="en-US" sz="2200" b="1" dirty="0">
                <a:solidFill>
                  <a:srgbClr val="0B1D3A"/>
                </a:solidFill>
                <a:latin typeface="Trebuchet MS" pitchFamily="34" charset="0"/>
                <a:ea typeface="Trebuchet MS" pitchFamily="34" charset="-122"/>
                <a:cs typeface="Trebuchet MS" pitchFamily="34" charset="-120"/>
              </a:rPr>
              <a:t>By the End of This Course, You Will Be Able To...</a:t>
            </a:r>
            <a:endParaRPr lang="en-US" sz="2200" dirty="0"/>
          </a:p>
        </p:txBody>
      </p:sp>
      <p:sp>
        <p:nvSpPr>
          <p:cNvPr id="7" name="Shape 5"/>
          <p:cNvSpPr/>
          <p:nvPr/>
        </p:nvSpPr>
        <p:spPr>
          <a:xfrm>
            <a:off x="457200" y="1783080"/>
            <a:ext cx="3977640" cy="114300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8" name="Shape 6"/>
          <p:cNvSpPr/>
          <p:nvPr/>
        </p:nvSpPr>
        <p:spPr>
          <a:xfrm>
            <a:off x="457200" y="1783080"/>
            <a:ext cx="73152" cy="1143000"/>
          </a:xfrm>
          <a:prstGeom prst="rect">
            <a:avLst/>
          </a:prstGeom>
          <a:solidFill>
            <a:srgbClr val="00897B"/>
          </a:solidFill>
          <a:ln w="12700">
            <a:solidFill>
              <a:srgbClr val="00897B"/>
            </a:solidFill>
            <a:prstDash val="solid"/>
          </a:ln>
        </p:spPr>
      </p:sp>
      <p:pic>
        <p:nvPicPr>
          <p:cNvPr id="9" name="Image 0" descr="preencoded.png"/>
          <p:cNvPicPr>
            <a:picLocks noChangeAspect="1"/>
          </p:cNvPicPr>
          <p:nvPr/>
        </p:nvPicPr>
        <p:blipFill>
          <a:blip r:embed="rId3"/>
          <a:stretch>
            <a:fillRect/>
          </a:stretch>
        </p:blipFill>
        <p:spPr>
          <a:xfrm>
            <a:off x="621792" y="2103120"/>
            <a:ext cx="384048" cy="384048"/>
          </a:xfrm>
          <a:prstGeom prst="rect">
            <a:avLst/>
          </a:prstGeom>
        </p:spPr>
      </p:pic>
      <p:sp>
        <p:nvSpPr>
          <p:cNvPr id="10" name="Text 7"/>
          <p:cNvSpPr/>
          <p:nvPr/>
        </p:nvSpPr>
        <p:spPr>
          <a:xfrm>
            <a:off x="1051560" y="1874520"/>
            <a:ext cx="502920" cy="384048"/>
          </a:xfrm>
          <a:prstGeom prst="rect">
            <a:avLst/>
          </a:prstGeom>
          <a:noFill/>
          <a:ln/>
        </p:spPr>
        <p:txBody>
          <a:bodyPr wrap="square" lIns="0" tIns="0" rIns="0" bIns="0" rtlCol="0" anchor="ctr"/>
          <a:lstStyle/>
          <a:p>
            <a:pPr marL="0" indent="0">
              <a:buNone/>
            </a:pPr>
            <a:r>
              <a:rPr lang="en-US" sz="2200" b="1" dirty="0">
                <a:solidFill>
                  <a:srgbClr val="00BCD4"/>
                </a:solidFill>
                <a:latin typeface="Trebuchet MS" pitchFamily="34" charset="0"/>
                <a:ea typeface="Trebuchet MS" pitchFamily="34" charset="-122"/>
                <a:cs typeface="Trebuchet MS" pitchFamily="34" charset="-120"/>
              </a:rPr>
              <a:t>01</a:t>
            </a:r>
            <a:endParaRPr lang="en-US" sz="2200" dirty="0"/>
          </a:p>
        </p:txBody>
      </p:sp>
      <p:sp>
        <p:nvSpPr>
          <p:cNvPr id="11" name="Text 8"/>
          <p:cNvSpPr/>
          <p:nvPr/>
        </p:nvSpPr>
        <p:spPr>
          <a:xfrm>
            <a:off x="1051560" y="2185416"/>
            <a:ext cx="3291840" cy="658368"/>
          </a:xfrm>
          <a:prstGeom prst="rect">
            <a:avLst/>
          </a:prstGeom>
          <a:noFill/>
          <a:ln/>
        </p:spPr>
        <p:txBody>
          <a:bodyPr wrap="square" lIns="0" tIns="0" rIns="0" bIns="0" rtlCol="0" anchor="t"/>
          <a:lstStyle/>
          <a:p>
            <a:pPr marL="0" indent="0">
              <a:buNone/>
            </a:pPr>
            <a:r>
              <a:rPr lang="en-US" sz="1200" dirty="0">
                <a:solidFill>
                  <a:srgbClr val="0B1D3A"/>
                </a:solidFill>
                <a:latin typeface="Calibri" pitchFamily="34" charset="0"/>
                <a:ea typeface="Calibri" pitchFamily="34" charset="-122"/>
                <a:cs typeface="Calibri" pitchFamily="34" charset="-120"/>
              </a:rPr>
              <a:t>Explain what a semiconductor is and why it matters in modern technology</a:t>
            </a:r>
            <a:endParaRPr lang="en-US" sz="1200" dirty="0"/>
          </a:p>
        </p:txBody>
      </p:sp>
      <p:sp>
        <p:nvSpPr>
          <p:cNvPr id="12" name="Shape 9"/>
          <p:cNvSpPr/>
          <p:nvPr/>
        </p:nvSpPr>
        <p:spPr>
          <a:xfrm>
            <a:off x="4800600" y="1783080"/>
            <a:ext cx="3977640" cy="114300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13" name="Shape 10"/>
          <p:cNvSpPr/>
          <p:nvPr/>
        </p:nvSpPr>
        <p:spPr>
          <a:xfrm>
            <a:off x="4800600" y="1783080"/>
            <a:ext cx="73152" cy="1143000"/>
          </a:xfrm>
          <a:prstGeom prst="rect">
            <a:avLst/>
          </a:prstGeom>
          <a:solidFill>
            <a:srgbClr val="00897B"/>
          </a:solidFill>
          <a:ln w="12700">
            <a:solidFill>
              <a:srgbClr val="00897B"/>
            </a:solidFill>
            <a:prstDash val="solid"/>
          </a:ln>
        </p:spPr>
      </p:sp>
      <p:pic>
        <p:nvPicPr>
          <p:cNvPr id="14" name="Image 1" descr="preencoded.png"/>
          <p:cNvPicPr>
            <a:picLocks noChangeAspect="1"/>
          </p:cNvPicPr>
          <p:nvPr/>
        </p:nvPicPr>
        <p:blipFill>
          <a:blip r:embed="rId4"/>
          <a:stretch>
            <a:fillRect/>
          </a:stretch>
        </p:blipFill>
        <p:spPr>
          <a:xfrm>
            <a:off x="4965192" y="2103120"/>
            <a:ext cx="384048" cy="384048"/>
          </a:xfrm>
          <a:prstGeom prst="rect">
            <a:avLst/>
          </a:prstGeom>
        </p:spPr>
      </p:pic>
      <p:sp>
        <p:nvSpPr>
          <p:cNvPr id="15" name="Text 11"/>
          <p:cNvSpPr/>
          <p:nvPr/>
        </p:nvSpPr>
        <p:spPr>
          <a:xfrm>
            <a:off x="5394960" y="1874520"/>
            <a:ext cx="502920" cy="384048"/>
          </a:xfrm>
          <a:prstGeom prst="rect">
            <a:avLst/>
          </a:prstGeom>
          <a:noFill/>
          <a:ln/>
        </p:spPr>
        <p:txBody>
          <a:bodyPr wrap="square" lIns="0" tIns="0" rIns="0" bIns="0" rtlCol="0" anchor="ctr"/>
          <a:lstStyle/>
          <a:p>
            <a:pPr marL="0" indent="0">
              <a:buNone/>
            </a:pPr>
            <a:r>
              <a:rPr lang="en-US" sz="2200" b="1" dirty="0">
                <a:solidFill>
                  <a:srgbClr val="00BCD4"/>
                </a:solidFill>
                <a:latin typeface="Trebuchet MS" pitchFamily="34" charset="0"/>
                <a:ea typeface="Trebuchet MS" pitchFamily="34" charset="-122"/>
                <a:cs typeface="Trebuchet MS" pitchFamily="34" charset="-120"/>
              </a:rPr>
              <a:t>02</a:t>
            </a:r>
            <a:endParaRPr lang="en-US" sz="2200" dirty="0"/>
          </a:p>
        </p:txBody>
      </p:sp>
      <p:sp>
        <p:nvSpPr>
          <p:cNvPr id="16" name="Text 12"/>
          <p:cNvSpPr/>
          <p:nvPr/>
        </p:nvSpPr>
        <p:spPr>
          <a:xfrm>
            <a:off x="5394960" y="2185416"/>
            <a:ext cx="3291840" cy="658368"/>
          </a:xfrm>
          <a:prstGeom prst="rect">
            <a:avLst/>
          </a:prstGeom>
          <a:noFill/>
          <a:ln/>
        </p:spPr>
        <p:txBody>
          <a:bodyPr wrap="square" lIns="0" tIns="0" rIns="0" bIns="0" rtlCol="0" anchor="t"/>
          <a:lstStyle/>
          <a:p>
            <a:pPr marL="0" indent="0">
              <a:buNone/>
            </a:pPr>
            <a:r>
              <a:rPr lang="en-US" sz="1200" dirty="0">
                <a:solidFill>
                  <a:srgbClr val="0B1D3A"/>
                </a:solidFill>
                <a:latin typeface="Calibri" pitchFamily="34" charset="0"/>
                <a:ea typeface="Calibri" pitchFamily="34" charset="-122"/>
                <a:cs typeface="Calibri" pitchFamily="34" charset="-120"/>
              </a:rPr>
              <a:t>Identify and sequence the key stages of semiconductor manufacturing</a:t>
            </a:r>
            <a:endParaRPr lang="en-US" sz="1200" dirty="0"/>
          </a:p>
        </p:txBody>
      </p:sp>
      <p:sp>
        <p:nvSpPr>
          <p:cNvPr id="17" name="Shape 13"/>
          <p:cNvSpPr/>
          <p:nvPr/>
        </p:nvSpPr>
        <p:spPr>
          <a:xfrm>
            <a:off x="457200" y="3136392"/>
            <a:ext cx="3977640" cy="114300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18" name="Shape 14"/>
          <p:cNvSpPr/>
          <p:nvPr/>
        </p:nvSpPr>
        <p:spPr>
          <a:xfrm>
            <a:off x="457200" y="3136392"/>
            <a:ext cx="73152" cy="1143000"/>
          </a:xfrm>
          <a:prstGeom prst="rect">
            <a:avLst/>
          </a:prstGeom>
          <a:solidFill>
            <a:srgbClr val="00897B"/>
          </a:solidFill>
          <a:ln w="12700">
            <a:solidFill>
              <a:srgbClr val="00897B"/>
            </a:solidFill>
            <a:prstDash val="solid"/>
          </a:ln>
        </p:spPr>
      </p:sp>
      <p:pic>
        <p:nvPicPr>
          <p:cNvPr id="19" name="Image 2" descr="preencoded.png"/>
          <p:cNvPicPr>
            <a:picLocks noChangeAspect="1"/>
          </p:cNvPicPr>
          <p:nvPr/>
        </p:nvPicPr>
        <p:blipFill>
          <a:blip r:embed="rId5"/>
          <a:stretch>
            <a:fillRect/>
          </a:stretch>
        </p:blipFill>
        <p:spPr>
          <a:xfrm>
            <a:off x="621792" y="3456432"/>
            <a:ext cx="384048" cy="384048"/>
          </a:xfrm>
          <a:prstGeom prst="rect">
            <a:avLst/>
          </a:prstGeom>
        </p:spPr>
      </p:pic>
      <p:sp>
        <p:nvSpPr>
          <p:cNvPr id="20" name="Text 15"/>
          <p:cNvSpPr/>
          <p:nvPr/>
        </p:nvSpPr>
        <p:spPr>
          <a:xfrm>
            <a:off x="1051560" y="3227832"/>
            <a:ext cx="502920" cy="384048"/>
          </a:xfrm>
          <a:prstGeom prst="rect">
            <a:avLst/>
          </a:prstGeom>
          <a:noFill/>
          <a:ln/>
        </p:spPr>
        <p:txBody>
          <a:bodyPr wrap="square" lIns="0" tIns="0" rIns="0" bIns="0" rtlCol="0" anchor="ctr"/>
          <a:lstStyle/>
          <a:p>
            <a:pPr marL="0" indent="0">
              <a:buNone/>
            </a:pPr>
            <a:r>
              <a:rPr lang="en-US" sz="2200" b="1" dirty="0">
                <a:solidFill>
                  <a:srgbClr val="00BCD4"/>
                </a:solidFill>
                <a:latin typeface="Trebuchet MS" pitchFamily="34" charset="0"/>
                <a:ea typeface="Trebuchet MS" pitchFamily="34" charset="-122"/>
                <a:cs typeface="Trebuchet MS" pitchFamily="34" charset="-120"/>
              </a:rPr>
              <a:t>03</a:t>
            </a:r>
            <a:endParaRPr lang="en-US" sz="2200" dirty="0"/>
          </a:p>
        </p:txBody>
      </p:sp>
      <p:sp>
        <p:nvSpPr>
          <p:cNvPr id="21" name="Text 16"/>
          <p:cNvSpPr/>
          <p:nvPr/>
        </p:nvSpPr>
        <p:spPr>
          <a:xfrm>
            <a:off x="1051560" y="3538728"/>
            <a:ext cx="3291840" cy="658368"/>
          </a:xfrm>
          <a:prstGeom prst="rect">
            <a:avLst/>
          </a:prstGeom>
          <a:noFill/>
          <a:ln/>
        </p:spPr>
        <p:txBody>
          <a:bodyPr wrap="square" lIns="0" tIns="0" rIns="0" bIns="0" rtlCol="0" anchor="t"/>
          <a:lstStyle/>
          <a:p>
            <a:pPr marL="0" indent="0">
              <a:buNone/>
            </a:pPr>
            <a:r>
              <a:rPr lang="en-US" sz="1200" dirty="0">
                <a:solidFill>
                  <a:srgbClr val="0B1D3A"/>
                </a:solidFill>
                <a:latin typeface="Calibri" pitchFamily="34" charset="0"/>
                <a:ea typeface="Calibri" pitchFamily="34" charset="-122"/>
                <a:cs typeface="Calibri" pitchFamily="34" charset="-120"/>
              </a:rPr>
              <a:t>Describe the purpose of each process step — from wafer creation to packaging</a:t>
            </a:r>
            <a:endParaRPr lang="en-US" sz="1200" dirty="0"/>
          </a:p>
        </p:txBody>
      </p:sp>
      <p:sp>
        <p:nvSpPr>
          <p:cNvPr id="22" name="Shape 17"/>
          <p:cNvSpPr/>
          <p:nvPr/>
        </p:nvSpPr>
        <p:spPr>
          <a:xfrm>
            <a:off x="4800600" y="3136392"/>
            <a:ext cx="3977640" cy="114300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23" name="Shape 18"/>
          <p:cNvSpPr/>
          <p:nvPr/>
        </p:nvSpPr>
        <p:spPr>
          <a:xfrm>
            <a:off x="4800600" y="3136392"/>
            <a:ext cx="73152" cy="1143000"/>
          </a:xfrm>
          <a:prstGeom prst="rect">
            <a:avLst/>
          </a:prstGeom>
          <a:solidFill>
            <a:srgbClr val="00897B"/>
          </a:solidFill>
          <a:ln w="12700">
            <a:solidFill>
              <a:srgbClr val="00897B"/>
            </a:solidFill>
            <a:prstDash val="solid"/>
          </a:ln>
        </p:spPr>
      </p:sp>
      <p:pic>
        <p:nvPicPr>
          <p:cNvPr id="24" name="Image 3" descr="preencoded.png"/>
          <p:cNvPicPr>
            <a:picLocks noChangeAspect="1"/>
          </p:cNvPicPr>
          <p:nvPr/>
        </p:nvPicPr>
        <p:blipFill>
          <a:blip r:embed="rId6"/>
          <a:stretch>
            <a:fillRect/>
          </a:stretch>
        </p:blipFill>
        <p:spPr>
          <a:xfrm>
            <a:off x="4965192" y="3456432"/>
            <a:ext cx="384048" cy="384048"/>
          </a:xfrm>
          <a:prstGeom prst="rect">
            <a:avLst/>
          </a:prstGeom>
        </p:spPr>
      </p:pic>
      <p:sp>
        <p:nvSpPr>
          <p:cNvPr id="25" name="Text 19"/>
          <p:cNvSpPr/>
          <p:nvPr/>
        </p:nvSpPr>
        <p:spPr>
          <a:xfrm>
            <a:off x="5394960" y="3227832"/>
            <a:ext cx="502920" cy="384048"/>
          </a:xfrm>
          <a:prstGeom prst="rect">
            <a:avLst/>
          </a:prstGeom>
          <a:noFill/>
          <a:ln/>
        </p:spPr>
        <p:txBody>
          <a:bodyPr wrap="square" lIns="0" tIns="0" rIns="0" bIns="0" rtlCol="0" anchor="ctr"/>
          <a:lstStyle/>
          <a:p>
            <a:pPr marL="0" indent="0">
              <a:buNone/>
            </a:pPr>
            <a:r>
              <a:rPr lang="en-US" sz="2200" b="1" dirty="0">
                <a:solidFill>
                  <a:srgbClr val="00BCD4"/>
                </a:solidFill>
                <a:latin typeface="Trebuchet MS" pitchFamily="34" charset="0"/>
                <a:ea typeface="Trebuchet MS" pitchFamily="34" charset="-122"/>
                <a:cs typeface="Trebuchet MS" pitchFamily="34" charset="-120"/>
              </a:rPr>
              <a:t>04</a:t>
            </a:r>
            <a:endParaRPr lang="en-US" sz="2200" dirty="0"/>
          </a:p>
        </p:txBody>
      </p:sp>
      <p:sp>
        <p:nvSpPr>
          <p:cNvPr id="26" name="Text 20"/>
          <p:cNvSpPr/>
          <p:nvPr/>
        </p:nvSpPr>
        <p:spPr>
          <a:xfrm>
            <a:off x="5394960" y="3538728"/>
            <a:ext cx="3291840" cy="658368"/>
          </a:xfrm>
          <a:prstGeom prst="rect">
            <a:avLst/>
          </a:prstGeom>
          <a:noFill/>
          <a:ln/>
        </p:spPr>
        <p:txBody>
          <a:bodyPr wrap="square" lIns="0" tIns="0" rIns="0" bIns="0" rtlCol="0" anchor="t"/>
          <a:lstStyle/>
          <a:p>
            <a:pPr marL="0" indent="0">
              <a:buNone/>
            </a:pPr>
            <a:r>
              <a:rPr lang="en-US" sz="1200" dirty="0">
                <a:solidFill>
                  <a:srgbClr val="0B1D3A"/>
                </a:solidFill>
                <a:latin typeface="Calibri" pitchFamily="34" charset="0"/>
                <a:ea typeface="Calibri" pitchFamily="34" charset="-122"/>
                <a:cs typeface="Calibri" pitchFamily="34" charset="-120"/>
              </a:rPr>
              <a:t>Apply your understanding to analyze a real-world manufacturing scenario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2244"/>
          </a:solidFill>
          <a:ln w="12700">
            <a:solidFill>
              <a:srgbClr val="0D2244"/>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3 of 12</a:t>
            </a:r>
            <a:endParaRPr lang="en-US" sz="1000" dirty="0"/>
          </a:p>
        </p:txBody>
      </p:sp>
      <p:sp>
        <p:nvSpPr>
          <p:cNvPr id="4" name="Shape 2"/>
          <p:cNvSpPr/>
          <p:nvPr/>
        </p:nvSpPr>
        <p:spPr>
          <a:xfrm>
            <a:off x="457200" y="640080"/>
            <a:ext cx="2926080" cy="347472"/>
          </a:xfrm>
          <a:prstGeom prst="roundRect">
            <a:avLst>
              <a:gd name="adj" fmla="val 21053"/>
            </a:avLst>
          </a:prstGeom>
          <a:solidFill>
            <a:srgbClr val="1565C0"/>
          </a:solidFill>
          <a:ln w="12700">
            <a:solidFill>
              <a:srgbClr val="1565C0"/>
            </a:solidFill>
            <a:prstDash val="solid"/>
          </a:ln>
        </p:spPr>
      </p:sp>
      <p:sp>
        <p:nvSpPr>
          <p:cNvPr id="5" name="Text 3"/>
          <p:cNvSpPr/>
          <p:nvPr/>
        </p:nvSpPr>
        <p:spPr>
          <a:xfrm>
            <a:off x="457200" y="640080"/>
            <a:ext cx="292608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INTRODUCTION</a:t>
            </a:r>
            <a:endParaRPr lang="en-US" sz="1000" dirty="0"/>
          </a:p>
        </p:txBody>
      </p:sp>
      <p:sp>
        <p:nvSpPr>
          <p:cNvPr id="6" name="Text 4"/>
          <p:cNvSpPr/>
          <p:nvPr/>
        </p:nvSpPr>
        <p:spPr>
          <a:xfrm>
            <a:off x="457200" y="105156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What Is a Semiconductor?</a:t>
            </a:r>
            <a:endParaRPr lang="en-US" sz="2600" dirty="0"/>
          </a:p>
        </p:txBody>
      </p:sp>
      <p:sp>
        <p:nvSpPr>
          <p:cNvPr id="7" name="Shape 5"/>
          <p:cNvSpPr/>
          <p:nvPr/>
        </p:nvSpPr>
        <p:spPr>
          <a:xfrm>
            <a:off x="457200" y="1783080"/>
            <a:ext cx="2560320" cy="1371600"/>
          </a:xfrm>
          <a:prstGeom prst="rect">
            <a:avLst/>
          </a:prstGeom>
          <a:solidFill>
            <a:srgbClr val="E53935">
              <a:alpha val="45000"/>
            </a:srgbClr>
          </a:solidFill>
          <a:ln w="25400">
            <a:solidFill>
              <a:srgbClr val="E53935"/>
            </a:solidFill>
            <a:prstDash val="solid"/>
          </a:ln>
          <a:effectLst>
            <a:outerShdw blurRad="101600" dist="38100" dir="8100000" algn="bl" rotWithShape="0">
              <a:srgbClr val="000000">
                <a:alpha val="18000"/>
              </a:srgbClr>
            </a:outerShdw>
          </a:effectLst>
        </p:spPr>
      </p:sp>
      <p:sp>
        <p:nvSpPr>
          <p:cNvPr id="8" name="Text 6"/>
          <p:cNvSpPr/>
          <p:nvPr/>
        </p:nvSpPr>
        <p:spPr>
          <a:xfrm>
            <a:off x="457200" y="1810512"/>
            <a:ext cx="256032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Insulator</a:t>
            </a:r>
            <a:endParaRPr lang="en-US" sz="1600" dirty="0"/>
          </a:p>
        </p:txBody>
      </p:sp>
      <p:sp>
        <p:nvSpPr>
          <p:cNvPr id="9" name="Text 7"/>
          <p:cNvSpPr/>
          <p:nvPr/>
        </p:nvSpPr>
        <p:spPr>
          <a:xfrm>
            <a:off x="457200" y="2359152"/>
            <a:ext cx="2560320" cy="5486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Wood, Glass</a:t>
            </a:r>
            <a:endParaRPr lang="en-US" sz="1100" dirty="0"/>
          </a:p>
        </p:txBody>
      </p:sp>
      <p:pic>
        <p:nvPicPr>
          <p:cNvPr id="10" name="Image 0" descr="preencoded.png"/>
          <p:cNvPicPr>
            <a:picLocks noChangeAspect="1"/>
          </p:cNvPicPr>
          <p:nvPr/>
        </p:nvPicPr>
        <p:blipFill>
          <a:blip r:embed="rId3"/>
          <a:stretch>
            <a:fillRect/>
          </a:stretch>
        </p:blipFill>
        <p:spPr>
          <a:xfrm>
            <a:off x="3108960" y="2240280"/>
            <a:ext cx="256032" cy="256032"/>
          </a:xfrm>
          <a:prstGeom prst="rect">
            <a:avLst/>
          </a:prstGeom>
        </p:spPr>
      </p:pic>
      <p:sp>
        <p:nvSpPr>
          <p:cNvPr id="11" name="Shape 8"/>
          <p:cNvSpPr/>
          <p:nvPr/>
        </p:nvSpPr>
        <p:spPr>
          <a:xfrm>
            <a:off x="3291840" y="1783080"/>
            <a:ext cx="2560320" cy="1371600"/>
          </a:xfrm>
          <a:prstGeom prst="rect">
            <a:avLst/>
          </a:prstGeom>
          <a:solidFill>
            <a:srgbClr val="00BCD4"/>
          </a:solidFill>
          <a:ln w="25400">
            <a:solidFill>
              <a:srgbClr val="00BCD4"/>
            </a:solidFill>
            <a:prstDash val="solid"/>
          </a:ln>
          <a:effectLst>
            <a:outerShdw blurRad="101600" dist="38100" dir="8100000" algn="bl" rotWithShape="0">
              <a:srgbClr val="000000">
                <a:alpha val="18000"/>
              </a:srgbClr>
            </a:outerShdw>
          </a:effectLst>
        </p:spPr>
      </p:sp>
      <p:sp>
        <p:nvSpPr>
          <p:cNvPr id="12" name="Text 9"/>
          <p:cNvSpPr/>
          <p:nvPr/>
        </p:nvSpPr>
        <p:spPr>
          <a:xfrm>
            <a:off x="3291840" y="1810512"/>
            <a:ext cx="256032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Semiconductor</a:t>
            </a:r>
            <a:endParaRPr lang="en-US" sz="1600" dirty="0"/>
          </a:p>
        </p:txBody>
      </p:sp>
      <p:sp>
        <p:nvSpPr>
          <p:cNvPr id="13" name="Text 10"/>
          <p:cNvSpPr/>
          <p:nvPr/>
        </p:nvSpPr>
        <p:spPr>
          <a:xfrm>
            <a:off x="3291840" y="2359152"/>
            <a:ext cx="2560320" cy="5486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Silicon, Germanium</a:t>
            </a:r>
            <a:endParaRPr lang="en-US" sz="1100" dirty="0"/>
          </a:p>
        </p:txBody>
      </p:sp>
      <p:pic>
        <p:nvPicPr>
          <p:cNvPr id="14" name="Image 1" descr="preencoded.png"/>
          <p:cNvPicPr>
            <a:picLocks noChangeAspect="1"/>
          </p:cNvPicPr>
          <p:nvPr/>
        </p:nvPicPr>
        <p:blipFill>
          <a:blip r:embed="rId3"/>
          <a:stretch>
            <a:fillRect/>
          </a:stretch>
        </p:blipFill>
        <p:spPr>
          <a:xfrm>
            <a:off x="5943600" y="2240280"/>
            <a:ext cx="256032" cy="256032"/>
          </a:xfrm>
          <a:prstGeom prst="rect">
            <a:avLst/>
          </a:prstGeom>
        </p:spPr>
      </p:pic>
      <p:sp>
        <p:nvSpPr>
          <p:cNvPr id="15" name="Shape 11"/>
          <p:cNvSpPr/>
          <p:nvPr/>
        </p:nvSpPr>
        <p:spPr>
          <a:xfrm>
            <a:off x="6126480" y="1783080"/>
            <a:ext cx="2560320" cy="1371600"/>
          </a:xfrm>
          <a:prstGeom prst="rect">
            <a:avLst/>
          </a:prstGeom>
          <a:solidFill>
            <a:srgbClr val="43A047">
              <a:alpha val="45000"/>
            </a:srgbClr>
          </a:solidFill>
          <a:ln w="25400">
            <a:solidFill>
              <a:srgbClr val="43A047"/>
            </a:solidFill>
            <a:prstDash val="solid"/>
          </a:ln>
          <a:effectLst>
            <a:outerShdw blurRad="101600" dist="38100" dir="8100000" algn="bl" rotWithShape="0">
              <a:srgbClr val="000000">
                <a:alpha val="18000"/>
              </a:srgbClr>
            </a:outerShdw>
          </a:effectLst>
        </p:spPr>
      </p:sp>
      <p:sp>
        <p:nvSpPr>
          <p:cNvPr id="16" name="Text 12"/>
          <p:cNvSpPr/>
          <p:nvPr/>
        </p:nvSpPr>
        <p:spPr>
          <a:xfrm>
            <a:off x="6126480" y="1810512"/>
            <a:ext cx="256032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Conductor</a:t>
            </a:r>
            <a:endParaRPr lang="en-US" sz="1600" dirty="0"/>
          </a:p>
        </p:txBody>
      </p:sp>
      <p:sp>
        <p:nvSpPr>
          <p:cNvPr id="17" name="Text 13"/>
          <p:cNvSpPr/>
          <p:nvPr/>
        </p:nvSpPr>
        <p:spPr>
          <a:xfrm>
            <a:off x="6126480" y="2359152"/>
            <a:ext cx="2560320" cy="548640"/>
          </a:xfrm>
          <a:prstGeom prst="rect">
            <a:avLst/>
          </a:prstGeom>
          <a:noFill/>
          <a:ln/>
        </p:spPr>
        <p:txBody>
          <a:bodyPr wrap="square" lIns="0" tIns="0" rIns="0" bIns="0"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Copper, Gold</a:t>
            </a:r>
            <a:endParaRPr lang="en-US" sz="1100" dirty="0"/>
          </a:p>
        </p:txBody>
      </p:sp>
      <p:sp>
        <p:nvSpPr>
          <p:cNvPr id="18" name="Shape 14"/>
          <p:cNvSpPr/>
          <p:nvPr/>
        </p:nvSpPr>
        <p:spPr>
          <a:xfrm>
            <a:off x="457200" y="3337560"/>
            <a:ext cx="8229600" cy="868680"/>
          </a:xfrm>
          <a:prstGeom prst="rect">
            <a:avLst/>
          </a:prstGeom>
          <a:solidFill>
            <a:srgbClr val="00897B">
              <a:alpha val="20000"/>
            </a:srgbClr>
          </a:solidFill>
          <a:ln w="12700">
            <a:solidFill>
              <a:srgbClr val="00897B"/>
            </a:solidFill>
            <a:prstDash val="solid"/>
          </a:ln>
        </p:spPr>
      </p:sp>
      <p:pic>
        <p:nvPicPr>
          <p:cNvPr id="19" name="Image 2" descr="preencoded.png"/>
          <p:cNvPicPr>
            <a:picLocks noChangeAspect="1"/>
          </p:cNvPicPr>
          <p:nvPr/>
        </p:nvPicPr>
        <p:blipFill>
          <a:blip r:embed="rId4"/>
          <a:stretch>
            <a:fillRect/>
          </a:stretch>
        </p:blipFill>
        <p:spPr>
          <a:xfrm>
            <a:off x="640080" y="3493008"/>
            <a:ext cx="320040" cy="320040"/>
          </a:xfrm>
          <a:prstGeom prst="rect">
            <a:avLst/>
          </a:prstGeom>
        </p:spPr>
      </p:pic>
      <p:sp>
        <p:nvSpPr>
          <p:cNvPr id="20" name="Text 15"/>
          <p:cNvSpPr/>
          <p:nvPr/>
        </p:nvSpPr>
        <p:spPr>
          <a:xfrm>
            <a:off x="1097280" y="3364992"/>
            <a:ext cx="7406640" cy="804672"/>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Key Insight: Silicon is the most widely used semiconductor. It can be precisely controlled to either conduct or block electricity — making it perfect for building logic circuits inside chips.</a:t>
            </a:r>
            <a:endParaRPr lang="en-US" sz="1250" dirty="0"/>
          </a:p>
        </p:txBody>
      </p:sp>
      <p:sp>
        <p:nvSpPr>
          <p:cNvPr id="21" name="Shape 16"/>
          <p:cNvSpPr/>
          <p:nvPr/>
        </p:nvSpPr>
        <p:spPr>
          <a:xfrm>
            <a:off x="457200" y="4343400"/>
            <a:ext cx="8229600" cy="502920"/>
          </a:xfrm>
          <a:prstGeom prst="rect">
            <a:avLst/>
          </a:prstGeom>
          <a:solidFill>
            <a:srgbClr val="132040"/>
          </a:solidFill>
          <a:ln w="12700">
            <a:solidFill>
              <a:srgbClr val="1565C0"/>
            </a:solidFill>
            <a:prstDash val="solid"/>
          </a:ln>
        </p:spPr>
      </p:sp>
      <p:sp>
        <p:nvSpPr>
          <p:cNvPr id="22" name="Text 17"/>
          <p:cNvSpPr/>
          <p:nvPr/>
        </p:nvSpPr>
        <p:spPr>
          <a:xfrm>
            <a:off x="457200" y="4343400"/>
            <a:ext cx="8229600" cy="502920"/>
          </a:xfrm>
          <a:prstGeom prst="rect">
            <a:avLst/>
          </a:prstGeom>
          <a:noFill/>
          <a:ln/>
        </p:spPr>
        <p:txBody>
          <a:bodyPr wrap="square" lIns="0" tIns="0" rIns="0" bIns="0" rtlCol="0" anchor="ctr"/>
          <a:lstStyle/>
          <a:p>
            <a:pPr marL="0" indent="0" algn="ctr">
              <a:buNone/>
            </a:pPr>
            <a:r>
              <a:rPr lang="en-US" sz="1000" i="1" dirty="0">
                <a:solidFill>
                  <a:srgbClr val="B0BEC5"/>
                </a:solidFill>
                <a:latin typeface="Calibri" pitchFamily="34" charset="0"/>
                <a:ea typeface="Calibri" pitchFamily="34" charset="-122"/>
                <a:cs typeface="Calibri" pitchFamily="34" charset="-120"/>
              </a:rPr>
              <a:t>📷  [Placeholder: Animated infographic showing conductivity scale — insulator → semiconductor → conductor with electron-flow animation]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1D3A"/>
          </a:solidFill>
          <a:ln w="12700">
            <a:solidFill>
              <a:srgbClr val="0B1D3A"/>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4 of 12</a:t>
            </a:r>
            <a:endParaRPr lang="en-US" sz="1000" dirty="0"/>
          </a:p>
        </p:txBody>
      </p:sp>
      <p:sp>
        <p:nvSpPr>
          <p:cNvPr id="4" name="Shape 2"/>
          <p:cNvSpPr/>
          <p:nvPr/>
        </p:nvSpPr>
        <p:spPr>
          <a:xfrm>
            <a:off x="457200" y="640080"/>
            <a:ext cx="2560320" cy="347472"/>
          </a:xfrm>
          <a:prstGeom prst="roundRect">
            <a:avLst>
              <a:gd name="adj" fmla="val 21053"/>
            </a:avLst>
          </a:prstGeom>
          <a:solidFill>
            <a:srgbClr val="1565C0"/>
          </a:solidFill>
          <a:ln w="12700">
            <a:solidFill>
              <a:srgbClr val="1565C0"/>
            </a:solidFill>
            <a:prstDash val="solid"/>
          </a:ln>
        </p:spPr>
      </p:sp>
      <p:sp>
        <p:nvSpPr>
          <p:cNvPr id="5" name="Text 3"/>
          <p:cNvSpPr/>
          <p:nvPr/>
        </p:nvSpPr>
        <p:spPr>
          <a:xfrm>
            <a:off x="457200" y="640080"/>
            <a:ext cx="2560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PROCESS OVERVIEW</a:t>
            </a:r>
            <a:endParaRPr lang="en-US" sz="1000" dirty="0"/>
          </a:p>
        </p:txBody>
      </p:sp>
      <p:sp>
        <p:nvSpPr>
          <p:cNvPr id="6" name="Text 4"/>
          <p:cNvSpPr/>
          <p:nvPr/>
        </p:nvSpPr>
        <p:spPr>
          <a:xfrm>
            <a:off x="457200" y="1051560"/>
            <a:ext cx="8229600" cy="548640"/>
          </a:xfrm>
          <a:prstGeom prst="rect">
            <a:avLst/>
          </a:prstGeom>
          <a:noFill/>
          <a:ln/>
        </p:spPr>
        <p:txBody>
          <a:bodyPr wrap="square" lIns="0" tIns="0" rIns="0" bIns="0" rtlCol="0" anchor="ctr"/>
          <a:lstStyle/>
          <a:p>
            <a:pPr marL="0" indent="0">
              <a:buNone/>
            </a:pPr>
            <a:r>
              <a:rPr lang="en-US" sz="2200" b="1" dirty="0">
                <a:solidFill>
                  <a:srgbClr val="0B1D3A"/>
                </a:solidFill>
                <a:latin typeface="Trebuchet MS" pitchFamily="34" charset="0"/>
                <a:ea typeface="Trebuchet MS" pitchFamily="34" charset="-122"/>
                <a:cs typeface="Trebuchet MS" pitchFamily="34" charset="-120"/>
              </a:rPr>
              <a:t>The 8-Step Semiconductor Manufacturing Journey</a:t>
            </a:r>
            <a:endParaRPr lang="en-US" sz="2200" dirty="0"/>
          </a:p>
        </p:txBody>
      </p:sp>
      <p:sp>
        <p:nvSpPr>
          <p:cNvPr id="7" name="Text 5"/>
          <p:cNvSpPr/>
          <p:nvPr/>
        </p:nvSpPr>
        <p:spPr>
          <a:xfrm>
            <a:off x="457200" y="1572768"/>
            <a:ext cx="8229600" cy="320040"/>
          </a:xfrm>
          <a:prstGeom prst="rect">
            <a:avLst/>
          </a:prstGeom>
          <a:noFill/>
          <a:ln/>
        </p:spPr>
        <p:txBody>
          <a:bodyPr wrap="square" lIns="0" tIns="0" rIns="0" bIns="0" rtlCol="0" anchor="ctr"/>
          <a:lstStyle/>
          <a:p>
            <a:pPr marL="0" indent="0">
              <a:buNone/>
            </a:pPr>
            <a:r>
              <a:rPr lang="en-US" sz="1200" dirty="0">
                <a:solidFill>
                  <a:srgbClr val="607D8B"/>
                </a:solidFill>
                <a:latin typeface="Calibri" pitchFamily="34" charset="0"/>
                <a:ea typeface="Calibri" pitchFamily="34" charset="-122"/>
                <a:cs typeface="Calibri" pitchFamily="34" charset="-120"/>
              </a:rPr>
              <a:t>Click on each step to explore — or follow along as we walk through each phase.</a:t>
            </a:r>
            <a:endParaRPr lang="en-US" sz="1200" dirty="0"/>
          </a:p>
        </p:txBody>
      </p:sp>
      <p:sp>
        <p:nvSpPr>
          <p:cNvPr id="8" name="Shape 6"/>
          <p:cNvSpPr/>
          <p:nvPr/>
        </p:nvSpPr>
        <p:spPr>
          <a:xfrm>
            <a:off x="384048" y="2011680"/>
            <a:ext cx="1920240" cy="1188720"/>
          </a:xfrm>
          <a:prstGeom prst="rect">
            <a:avLst/>
          </a:prstGeom>
          <a:solidFill>
            <a:srgbClr val="00897B"/>
          </a:solidFill>
          <a:ln w="25400">
            <a:solidFill>
              <a:srgbClr val="00897B"/>
            </a:solidFill>
            <a:prstDash val="solid"/>
          </a:ln>
          <a:effectLst>
            <a:outerShdw blurRad="101600" dist="38100" dir="8100000" algn="bl" rotWithShape="0">
              <a:srgbClr val="000000">
                <a:alpha val="18000"/>
              </a:srgbClr>
            </a:outerShdw>
          </a:effectLst>
        </p:spPr>
      </p:sp>
      <p:sp>
        <p:nvSpPr>
          <p:cNvPr id="9" name="Text 7"/>
          <p:cNvSpPr/>
          <p:nvPr/>
        </p:nvSpPr>
        <p:spPr>
          <a:xfrm>
            <a:off x="384048" y="2084832"/>
            <a:ext cx="1920240" cy="365760"/>
          </a:xfrm>
          <a:prstGeom prst="rect">
            <a:avLst/>
          </a:prstGeom>
          <a:noFill/>
          <a:ln/>
        </p:spPr>
        <p:txBody>
          <a:bodyPr wrap="square" lIns="0" tIns="0" rIns="0" bIns="0" rtlCol="0" anchor="ctr"/>
          <a:lstStyle/>
          <a:p>
            <a:pPr marL="0" indent="0" algn="ctr">
              <a:buNone/>
            </a:pPr>
            <a:r>
              <a:rPr lang="en-US" sz="1800" b="1" dirty="0">
                <a:solidFill>
                  <a:srgbClr val="00897B"/>
                </a:solidFill>
                <a:latin typeface="Trebuchet MS" pitchFamily="34" charset="0"/>
                <a:ea typeface="Trebuchet MS" pitchFamily="34" charset="-122"/>
                <a:cs typeface="Trebuchet MS" pitchFamily="34" charset="-120"/>
              </a:rPr>
              <a:t>01</a:t>
            </a:r>
            <a:endParaRPr lang="en-US" sz="1800" dirty="0"/>
          </a:p>
        </p:txBody>
      </p:sp>
      <p:sp>
        <p:nvSpPr>
          <p:cNvPr id="10" name="Shape 8"/>
          <p:cNvSpPr/>
          <p:nvPr/>
        </p:nvSpPr>
        <p:spPr>
          <a:xfrm>
            <a:off x="841248" y="2423160"/>
            <a:ext cx="1005840" cy="36576"/>
          </a:xfrm>
          <a:prstGeom prst="rect">
            <a:avLst/>
          </a:prstGeom>
          <a:solidFill>
            <a:srgbClr val="00897B">
              <a:alpha val="70000"/>
            </a:srgbClr>
          </a:solidFill>
          <a:ln w="12700">
            <a:solidFill>
              <a:srgbClr val="00897B"/>
            </a:solidFill>
            <a:prstDash val="solid"/>
          </a:ln>
        </p:spPr>
      </p:sp>
      <p:sp>
        <p:nvSpPr>
          <p:cNvPr id="11" name="Text 9"/>
          <p:cNvSpPr/>
          <p:nvPr/>
        </p:nvSpPr>
        <p:spPr>
          <a:xfrm>
            <a:off x="384048" y="251460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Sand &amp; Silicon</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Purification</a:t>
            </a:r>
            <a:endParaRPr lang="en-US" sz="1100" dirty="0"/>
          </a:p>
        </p:txBody>
      </p:sp>
      <p:sp>
        <p:nvSpPr>
          <p:cNvPr id="12" name="Shape 10"/>
          <p:cNvSpPr/>
          <p:nvPr/>
        </p:nvSpPr>
        <p:spPr>
          <a:xfrm>
            <a:off x="2304288" y="2578608"/>
            <a:ext cx="201168" cy="0"/>
          </a:xfrm>
          <a:prstGeom prst="line">
            <a:avLst/>
          </a:prstGeom>
          <a:noFill/>
          <a:ln w="19050">
            <a:solidFill>
              <a:srgbClr val="607D8B"/>
            </a:solidFill>
            <a:prstDash val="dash"/>
          </a:ln>
        </p:spPr>
      </p:sp>
      <p:sp>
        <p:nvSpPr>
          <p:cNvPr id="13" name="Shape 11"/>
          <p:cNvSpPr/>
          <p:nvPr/>
        </p:nvSpPr>
        <p:spPr>
          <a:xfrm>
            <a:off x="2487168" y="2011680"/>
            <a:ext cx="1920240" cy="1188720"/>
          </a:xfrm>
          <a:prstGeom prst="rect">
            <a:avLst/>
          </a:prstGeom>
          <a:solidFill>
            <a:srgbClr val="1565C0">
              <a:alpha val="25000"/>
            </a:srgbClr>
          </a:solidFill>
          <a:ln w="25400">
            <a:solidFill>
              <a:srgbClr val="1565C0"/>
            </a:solidFill>
            <a:prstDash val="solid"/>
          </a:ln>
          <a:effectLst>
            <a:outerShdw blurRad="101600" dist="38100" dir="8100000" algn="bl" rotWithShape="0">
              <a:srgbClr val="000000">
                <a:alpha val="18000"/>
              </a:srgbClr>
            </a:outerShdw>
          </a:effectLst>
        </p:spPr>
      </p:sp>
      <p:sp>
        <p:nvSpPr>
          <p:cNvPr id="14" name="Text 12"/>
          <p:cNvSpPr/>
          <p:nvPr/>
        </p:nvSpPr>
        <p:spPr>
          <a:xfrm>
            <a:off x="2487168" y="2084832"/>
            <a:ext cx="1920240" cy="365760"/>
          </a:xfrm>
          <a:prstGeom prst="rect">
            <a:avLst/>
          </a:prstGeom>
          <a:noFill/>
          <a:ln/>
        </p:spPr>
        <p:txBody>
          <a:bodyPr wrap="square" lIns="0" tIns="0" rIns="0" bIns="0" rtlCol="0" anchor="ctr"/>
          <a:lstStyle/>
          <a:p>
            <a:pPr marL="0" indent="0" algn="ctr">
              <a:buNone/>
            </a:pPr>
            <a:r>
              <a:rPr lang="en-US" sz="1800" b="1" dirty="0">
                <a:solidFill>
                  <a:srgbClr val="1565C0"/>
                </a:solidFill>
                <a:latin typeface="Trebuchet MS" pitchFamily="34" charset="0"/>
                <a:ea typeface="Trebuchet MS" pitchFamily="34" charset="-122"/>
                <a:cs typeface="Trebuchet MS" pitchFamily="34" charset="-120"/>
              </a:rPr>
              <a:t>02</a:t>
            </a:r>
            <a:endParaRPr lang="en-US" sz="1800" dirty="0"/>
          </a:p>
        </p:txBody>
      </p:sp>
      <p:sp>
        <p:nvSpPr>
          <p:cNvPr id="15" name="Shape 13"/>
          <p:cNvSpPr/>
          <p:nvPr/>
        </p:nvSpPr>
        <p:spPr>
          <a:xfrm>
            <a:off x="2944368" y="2423160"/>
            <a:ext cx="1005840" cy="36576"/>
          </a:xfrm>
          <a:prstGeom prst="rect">
            <a:avLst/>
          </a:prstGeom>
          <a:solidFill>
            <a:srgbClr val="1565C0">
              <a:alpha val="70000"/>
            </a:srgbClr>
          </a:solidFill>
          <a:ln w="12700">
            <a:solidFill>
              <a:srgbClr val="1565C0"/>
            </a:solidFill>
            <a:prstDash val="solid"/>
          </a:ln>
        </p:spPr>
      </p:sp>
      <p:sp>
        <p:nvSpPr>
          <p:cNvPr id="16" name="Text 14"/>
          <p:cNvSpPr/>
          <p:nvPr/>
        </p:nvSpPr>
        <p:spPr>
          <a:xfrm>
            <a:off x="2487168" y="251460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Wafer</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Slicing</a:t>
            </a:r>
            <a:endParaRPr lang="en-US" sz="1100" dirty="0"/>
          </a:p>
        </p:txBody>
      </p:sp>
      <p:sp>
        <p:nvSpPr>
          <p:cNvPr id="17" name="Shape 15"/>
          <p:cNvSpPr/>
          <p:nvPr/>
        </p:nvSpPr>
        <p:spPr>
          <a:xfrm>
            <a:off x="4407408" y="2578608"/>
            <a:ext cx="201168" cy="0"/>
          </a:xfrm>
          <a:prstGeom prst="line">
            <a:avLst/>
          </a:prstGeom>
          <a:noFill/>
          <a:ln w="19050">
            <a:solidFill>
              <a:srgbClr val="607D8B"/>
            </a:solidFill>
            <a:prstDash val="dash"/>
          </a:ln>
        </p:spPr>
      </p:sp>
      <p:sp>
        <p:nvSpPr>
          <p:cNvPr id="18" name="Shape 16"/>
          <p:cNvSpPr/>
          <p:nvPr/>
        </p:nvSpPr>
        <p:spPr>
          <a:xfrm>
            <a:off x="4590288" y="2011680"/>
            <a:ext cx="1920240" cy="1188720"/>
          </a:xfrm>
          <a:prstGeom prst="rect">
            <a:avLst/>
          </a:prstGeom>
          <a:solidFill>
            <a:srgbClr val="7B1FA2">
              <a:alpha val="25000"/>
            </a:srgbClr>
          </a:solidFill>
          <a:ln w="25400">
            <a:solidFill>
              <a:srgbClr val="7B1FA2"/>
            </a:solidFill>
            <a:prstDash val="solid"/>
          </a:ln>
          <a:effectLst>
            <a:outerShdw blurRad="101600" dist="38100" dir="8100000" algn="bl" rotWithShape="0">
              <a:srgbClr val="000000">
                <a:alpha val="18000"/>
              </a:srgbClr>
            </a:outerShdw>
          </a:effectLst>
        </p:spPr>
      </p:sp>
      <p:sp>
        <p:nvSpPr>
          <p:cNvPr id="19" name="Text 17"/>
          <p:cNvSpPr/>
          <p:nvPr/>
        </p:nvSpPr>
        <p:spPr>
          <a:xfrm>
            <a:off x="4590288" y="2084832"/>
            <a:ext cx="1920240" cy="365760"/>
          </a:xfrm>
          <a:prstGeom prst="rect">
            <a:avLst/>
          </a:prstGeom>
          <a:noFill/>
          <a:ln/>
        </p:spPr>
        <p:txBody>
          <a:bodyPr wrap="square" lIns="0" tIns="0" rIns="0" bIns="0" rtlCol="0" anchor="ctr"/>
          <a:lstStyle/>
          <a:p>
            <a:pPr marL="0" indent="0" algn="ctr">
              <a:buNone/>
            </a:pPr>
            <a:r>
              <a:rPr lang="en-US" sz="1800" b="1" dirty="0">
                <a:solidFill>
                  <a:srgbClr val="7B1FA2"/>
                </a:solidFill>
                <a:latin typeface="Trebuchet MS" pitchFamily="34" charset="0"/>
                <a:ea typeface="Trebuchet MS" pitchFamily="34" charset="-122"/>
                <a:cs typeface="Trebuchet MS" pitchFamily="34" charset="-120"/>
              </a:rPr>
              <a:t>03</a:t>
            </a:r>
            <a:endParaRPr lang="en-US" sz="1800" dirty="0"/>
          </a:p>
        </p:txBody>
      </p:sp>
      <p:sp>
        <p:nvSpPr>
          <p:cNvPr id="20" name="Shape 18"/>
          <p:cNvSpPr/>
          <p:nvPr/>
        </p:nvSpPr>
        <p:spPr>
          <a:xfrm>
            <a:off x="5047488" y="2423160"/>
            <a:ext cx="1005840" cy="36576"/>
          </a:xfrm>
          <a:prstGeom prst="rect">
            <a:avLst/>
          </a:prstGeom>
          <a:solidFill>
            <a:srgbClr val="7B1FA2">
              <a:alpha val="70000"/>
            </a:srgbClr>
          </a:solidFill>
          <a:ln w="12700">
            <a:solidFill>
              <a:srgbClr val="7B1FA2"/>
            </a:solidFill>
            <a:prstDash val="solid"/>
          </a:ln>
        </p:spPr>
      </p:sp>
      <p:sp>
        <p:nvSpPr>
          <p:cNvPr id="21" name="Text 19"/>
          <p:cNvSpPr/>
          <p:nvPr/>
        </p:nvSpPr>
        <p:spPr>
          <a:xfrm>
            <a:off x="4590288" y="251460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Photolithography</a:t>
            </a:r>
            <a:endParaRPr lang="en-US" sz="1100" dirty="0"/>
          </a:p>
        </p:txBody>
      </p:sp>
      <p:sp>
        <p:nvSpPr>
          <p:cNvPr id="22" name="Shape 20"/>
          <p:cNvSpPr/>
          <p:nvPr/>
        </p:nvSpPr>
        <p:spPr>
          <a:xfrm>
            <a:off x="6510528" y="2578608"/>
            <a:ext cx="201168" cy="0"/>
          </a:xfrm>
          <a:prstGeom prst="line">
            <a:avLst/>
          </a:prstGeom>
          <a:noFill/>
          <a:ln w="19050">
            <a:solidFill>
              <a:srgbClr val="607D8B"/>
            </a:solidFill>
            <a:prstDash val="dash"/>
          </a:ln>
        </p:spPr>
      </p:sp>
      <p:sp>
        <p:nvSpPr>
          <p:cNvPr id="23" name="Shape 21"/>
          <p:cNvSpPr/>
          <p:nvPr/>
        </p:nvSpPr>
        <p:spPr>
          <a:xfrm>
            <a:off x="6693408" y="2011680"/>
            <a:ext cx="1920240" cy="1188720"/>
          </a:xfrm>
          <a:prstGeom prst="rect">
            <a:avLst/>
          </a:prstGeom>
          <a:solidFill>
            <a:srgbClr val="E65100">
              <a:alpha val="25000"/>
            </a:srgbClr>
          </a:solidFill>
          <a:ln w="25400">
            <a:solidFill>
              <a:srgbClr val="E65100"/>
            </a:solidFill>
            <a:prstDash val="solid"/>
          </a:ln>
          <a:effectLst>
            <a:outerShdw blurRad="101600" dist="38100" dir="8100000" algn="bl" rotWithShape="0">
              <a:srgbClr val="000000">
                <a:alpha val="18000"/>
              </a:srgbClr>
            </a:outerShdw>
          </a:effectLst>
        </p:spPr>
      </p:sp>
      <p:sp>
        <p:nvSpPr>
          <p:cNvPr id="24" name="Text 22"/>
          <p:cNvSpPr/>
          <p:nvPr/>
        </p:nvSpPr>
        <p:spPr>
          <a:xfrm>
            <a:off x="6693408" y="2084832"/>
            <a:ext cx="1920240" cy="365760"/>
          </a:xfrm>
          <a:prstGeom prst="rect">
            <a:avLst/>
          </a:prstGeom>
          <a:noFill/>
          <a:ln/>
        </p:spPr>
        <p:txBody>
          <a:bodyPr wrap="square" lIns="0" tIns="0" rIns="0" bIns="0" rtlCol="0" anchor="ctr"/>
          <a:lstStyle/>
          <a:p>
            <a:pPr marL="0" indent="0" algn="ctr">
              <a:buNone/>
            </a:pPr>
            <a:r>
              <a:rPr lang="en-US" sz="1800" b="1" dirty="0">
                <a:solidFill>
                  <a:srgbClr val="E65100"/>
                </a:solidFill>
                <a:latin typeface="Trebuchet MS" pitchFamily="34" charset="0"/>
                <a:ea typeface="Trebuchet MS" pitchFamily="34" charset="-122"/>
                <a:cs typeface="Trebuchet MS" pitchFamily="34" charset="-120"/>
              </a:rPr>
              <a:t>04</a:t>
            </a:r>
            <a:endParaRPr lang="en-US" sz="1800" dirty="0"/>
          </a:p>
        </p:txBody>
      </p:sp>
      <p:sp>
        <p:nvSpPr>
          <p:cNvPr id="25" name="Shape 23"/>
          <p:cNvSpPr/>
          <p:nvPr/>
        </p:nvSpPr>
        <p:spPr>
          <a:xfrm>
            <a:off x="7150608" y="2423160"/>
            <a:ext cx="1005840" cy="36576"/>
          </a:xfrm>
          <a:prstGeom prst="rect">
            <a:avLst/>
          </a:prstGeom>
          <a:solidFill>
            <a:srgbClr val="E65100">
              <a:alpha val="70000"/>
            </a:srgbClr>
          </a:solidFill>
          <a:ln w="12700">
            <a:solidFill>
              <a:srgbClr val="E65100"/>
            </a:solidFill>
            <a:prstDash val="solid"/>
          </a:ln>
        </p:spPr>
      </p:sp>
      <p:sp>
        <p:nvSpPr>
          <p:cNvPr id="26" name="Text 24"/>
          <p:cNvSpPr/>
          <p:nvPr/>
        </p:nvSpPr>
        <p:spPr>
          <a:xfrm>
            <a:off x="6693408" y="251460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Etching</a:t>
            </a:r>
            <a:endParaRPr lang="en-US" sz="1100" dirty="0"/>
          </a:p>
        </p:txBody>
      </p:sp>
      <p:sp>
        <p:nvSpPr>
          <p:cNvPr id="27" name="Shape 25"/>
          <p:cNvSpPr/>
          <p:nvPr/>
        </p:nvSpPr>
        <p:spPr>
          <a:xfrm>
            <a:off x="384048" y="3474720"/>
            <a:ext cx="1920240" cy="1188720"/>
          </a:xfrm>
          <a:prstGeom prst="rect">
            <a:avLst/>
          </a:prstGeom>
          <a:solidFill>
            <a:srgbClr val="AD1457">
              <a:alpha val="25000"/>
            </a:srgbClr>
          </a:solidFill>
          <a:ln w="25400">
            <a:solidFill>
              <a:srgbClr val="AD1457"/>
            </a:solidFill>
            <a:prstDash val="solid"/>
          </a:ln>
          <a:effectLst>
            <a:outerShdw blurRad="101600" dist="38100" dir="8100000" algn="bl" rotWithShape="0">
              <a:srgbClr val="000000">
                <a:alpha val="18000"/>
              </a:srgbClr>
            </a:outerShdw>
          </a:effectLst>
        </p:spPr>
      </p:sp>
      <p:sp>
        <p:nvSpPr>
          <p:cNvPr id="28" name="Text 26"/>
          <p:cNvSpPr/>
          <p:nvPr/>
        </p:nvSpPr>
        <p:spPr>
          <a:xfrm>
            <a:off x="384048" y="3547872"/>
            <a:ext cx="1920240" cy="365760"/>
          </a:xfrm>
          <a:prstGeom prst="rect">
            <a:avLst/>
          </a:prstGeom>
          <a:noFill/>
          <a:ln/>
        </p:spPr>
        <p:txBody>
          <a:bodyPr wrap="square" lIns="0" tIns="0" rIns="0" bIns="0" rtlCol="0" anchor="ctr"/>
          <a:lstStyle/>
          <a:p>
            <a:pPr marL="0" indent="0" algn="ctr">
              <a:buNone/>
            </a:pPr>
            <a:r>
              <a:rPr lang="en-US" sz="1800" b="1" dirty="0">
                <a:solidFill>
                  <a:srgbClr val="AD1457"/>
                </a:solidFill>
                <a:latin typeface="Trebuchet MS" pitchFamily="34" charset="0"/>
                <a:ea typeface="Trebuchet MS" pitchFamily="34" charset="-122"/>
                <a:cs typeface="Trebuchet MS" pitchFamily="34" charset="-120"/>
              </a:rPr>
              <a:t>05</a:t>
            </a:r>
            <a:endParaRPr lang="en-US" sz="1800" dirty="0"/>
          </a:p>
        </p:txBody>
      </p:sp>
      <p:sp>
        <p:nvSpPr>
          <p:cNvPr id="29" name="Shape 27"/>
          <p:cNvSpPr/>
          <p:nvPr/>
        </p:nvSpPr>
        <p:spPr>
          <a:xfrm>
            <a:off x="841248" y="3886200"/>
            <a:ext cx="1005840" cy="36576"/>
          </a:xfrm>
          <a:prstGeom prst="rect">
            <a:avLst/>
          </a:prstGeom>
          <a:solidFill>
            <a:srgbClr val="AD1457">
              <a:alpha val="70000"/>
            </a:srgbClr>
          </a:solidFill>
          <a:ln w="12700">
            <a:solidFill>
              <a:srgbClr val="AD1457"/>
            </a:solidFill>
            <a:prstDash val="solid"/>
          </a:ln>
        </p:spPr>
      </p:sp>
      <p:sp>
        <p:nvSpPr>
          <p:cNvPr id="30" name="Text 28"/>
          <p:cNvSpPr/>
          <p:nvPr/>
        </p:nvSpPr>
        <p:spPr>
          <a:xfrm>
            <a:off x="384048" y="397764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Doping &amp;</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Ion Implantation</a:t>
            </a:r>
            <a:endParaRPr lang="en-US" sz="1100" dirty="0"/>
          </a:p>
        </p:txBody>
      </p:sp>
      <p:sp>
        <p:nvSpPr>
          <p:cNvPr id="31" name="Shape 29"/>
          <p:cNvSpPr/>
          <p:nvPr/>
        </p:nvSpPr>
        <p:spPr>
          <a:xfrm>
            <a:off x="2304288" y="4041648"/>
            <a:ext cx="201168" cy="0"/>
          </a:xfrm>
          <a:prstGeom prst="line">
            <a:avLst/>
          </a:prstGeom>
          <a:noFill/>
          <a:ln w="19050">
            <a:solidFill>
              <a:srgbClr val="607D8B"/>
            </a:solidFill>
            <a:prstDash val="dash"/>
          </a:ln>
        </p:spPr>
      </p:sp>
      <p:sp>
        <p:nvSpPr>
          <p:cNvPr id="32" name="Shape 30"/>
          <p:cNvSpPr/>
          <p:nvPr/>
        </p:nvSpPr>
        <p:spPr>
          <a:xfrm>
            <a:off x="2487168" y="3474720"/>
            <a:ext cx="1920240" cy="1188720"/>
          </a:xfrm>
          <a:prstGeom prst="rect">
            <a:avLst/>
          </a:prstGeom>
          <a:solidFill>
            <a:srgbClr val="00796B">
              <a:alpha val="25000"/>
            </a:srgbClr>
          </a:solidFill>
          <a:ln w="25400">
            <a:solidFill>
              <a:srgbClr val="00796B"/>
            </a:solidFill>
            <a:prstDash val="solid"/>
          </a:ln>
          <a:effectLst>
            <a:outerShdw blurRad="101600" dist="38100" dir="8100000" algn="bl" rotWithShape="0">
              <a:srgbClr val="000000">
                <a:alpha val="18000"/>
              </a:srgbClr>
            </a:outerShdw>
          </a:effectLst>
        </p:spPr>
      </p:sp>
      <p:sp>
        <p:nvSpPr>
          <p:cNvPr id="33" name="Text 31"/>
          <p:cNvSpPr/>
          <p:nvPr/>
        </p:nvSpPr>
        <p:spPr>
          <a:xfrm>
            <a:off x="2487168" y="3547872"/>
            <a:ext cx="1920240" cy="365760"/>
          </a:xfrm>
          <a:prstGeom prst="rect">
            <a:avLst/>
          </a:prstGeom>
          <a:noFill/>
          <a:ln/>
        </p:spPr>
        <p:txBody>
          <a:bodyPr wrap="square" lIns="0" tIns="0" rIns="0" bIns="0" rtlCol="0" anchor="ctr"/>
          <a:lstStyle/>
          <a:p>
            <a:pPr marL="0" indent="0" algn="ctr">
              <a:buNone/>
            </a:pPr>
            <a:r>
              <a:rPr lang="en-US" sz="1800" b="1" dirty="0">
                <a:solidFill>
                  <a:srgbClr val="00796B"/>
                </a:solidFill>
                <a:latin typeface="Trebuchet MS" pitchFamily="34" charset="0"/>
                <a:ea typeface="Trebuchet MS" pitchFamily="34" charset="-122"/>
                <a:cs typeface="Trebuchet MS" pitchFamily="34" charset="-120"/>
              </a:rPr>
              <a:t>06</a:t>
            </a:r>
            <a:endParaRPr lang="en-US" sz="1800" dirty="0"/>
          </a:p>
        </p:txBody>
      </p:sp>
      <p:sp>
        <p:nvSpPr>
          <p:cNvPr id="34" name="Shape 32"/>
          <p:cNvSpPr/>
          <p:nvPr/>
        </p:nvSpPr>
        <p:spPr>
          <a:xfrm>
            <a:off x="2944368" y="3886200"/>
            <a:ext cx="1005840" cy="36576"/>
          </a:xfrm>
          <a:prstGeom prst="rect">
            <a:avLst/>
          </a:prstGeom>
          <a:solidFill>
            <a:srgbClr val="00796B">
              <a:alpha val="70000"/>
            </a:srgbClr>
          </a:solidFill>
          <a:ln w="12700">
            <a:solidFill>
              <a:srgbClr val="00796B"/>
            </a:solidFill>
            <a:prstDash val="solid"/>
          </a:ln>
        </p:spPr>
      </p:sp>
      <p:sp>
        <p:nvSpPr>
          <p:cNvPr id="35" name="Text 33"/>
          <p:cNvSpPr/>
          <p:nvPr/>
        </p:nvSpPr>
        <p:spPr>
          <a:xfrm>
            <a:off x="2487168" y="397764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Deposition &amp;</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Layering</a:t>
            </a:r>
            <a:endParaRPr lang="en-US" sz="1100" dirty="0"/>
          </a:p>
        </p:txBody>
      </p:sp>
      <p:sp>
        <p:nvSpPr>
          <p:cNvPr id="36" name="Shape 34"/>
          <p:cNvSpPr/>
          <p:nvPr/>
        </p:nvSpPr>
        <p:spPr>
          <a:xfrm>
            <a:off x="4407408" y="4041648"/>
            <a:ext cx="201168" cy="0"/>
          </a:xfrm>
          <a:prstGeom prst="line">
            <a:avLst/>
          </a:prstGeom>
          <a:noFill/>
          <a:ln w="19050">
            <a:solidFill>
              <a:srgbClr val="607D8B"/>
            </a:solidFill>
            <a:prstDash val="dash"/>
          </a:ln>
        </p:spPr>
      </p:sp>
      <p:sp>
        <p:nvSpPr>
          <p:cNvPr id="37" name="Shape 35"/>
          <p:cNvSpPr/>
          <p:nvPr/>
        </p:nvSpPr>
        <p:spPr>
          <a:xfrm>
            <a:off x="4590288" y="3474720"/>
            <a:ext cx="1920240" cy="1188720"/>
          </a:xfrm>
          <a:prstGeom prst="rect">
            <a:avLst/>
          </a:prstGeom>
          <a:solidFill>
            <a:srgbClr val="1565C0">
              <a:alpha val="25000"/>
            </a:srgbClr>
          </a:solidFill>
          <a:ln w="25400">
            <a:solidFill>
              <a:srgbClr val="1565C0"/>
            </a:solidFill>
            <a:prstDash val="solid"/>
          </a:ln>
          <a:effectLst>
            <a:outerShdw blurRad="101600" dist="38100" dir="8100000" algn="bl" rotWithShape="0">
              <a:srgbClr val="000000">
                <a:alpha val="18000"/>
              </a:srgbClr>
            </a:outerShdw>
          </a:effectLst>
        </p:spPr>
      </p:sp>
      <p:sp>
        <p:nvSpPr>
          <p:cNvPr id="38" name="Text 36"/>
          <p:cNvSpPr/>
          <p:nvPr/>
        </p:nvSpPr>
        <p:spPr>
          <a:xfrm>
            <a:off x="4590288" y="3547872"/>
            <a:ext cx="1920240" cy="365760"/>
          </a:xfrm>
          <a:prstGeom prst="rect">
            <a:avLst/>
          </a:prstGeom>
          <a:noFill/>
          <a:ln/>
        </p:spPr>
        <p:txBody>
          <a:bodyPr wrap="square" lIns="0" tIns="0" rIns="0" bIns="0" rtlCol="0" anchor="ctr"/>
          <a:lstStyle/>
          <a:p>
            <a:pPr marL="0" indent="0" algn="ctr">
              <a:buNone/>
            </a:pPr>
            <a:r>
              <a:rPr lang="en-US" sz="1800" b="1" dirty="0">
                <a:solidFill>
                  <a:srgbClr val="1565C0"/>
                </a:solidFill>
                <a:latin typeface="Trebuchet MS" pitchFamily="34" charset="0"/>
                <a:ea typeface="Trebuchet MS" pitchFamily="34" charset="-122"/>
                <a:cs typeface="Trebuchet MS" pitchFamily="34" charset="-120"/>
              </a:rPr>
              <a:t>07</a:t>
            </a:r>
            <a:endParaRPr lang="en-US" sz="1800" dirty="0"/>
          </a:p>
        </p:txBody>
      </p:sp>
      <p:sp>
        <p:nvSpPr>
          <p:cNvPr id="39" name="Shape 37"/>
          <p:cNvSpPr/>
          <p:nvPr/>
        </p:nvSpPr>
        <p:spPr>
          <a:xfrm>
            <a:off x="5047488" y="3886200"/>
            <a:ext cx="1005840" cy="36576"/>
          </a:xfrm>
          <a:prstGeom prst="rect">
            <a:avLst/>
          </a:prstGeom>
          <a:solidFill>
            <a:srgbClr val="1565C0">
              <a:alpha val="70000"/>
            </a:srgbClr>
          </a:solidFill>
          <a:ln w="12700">
            <a:solidFill>
              <a:srgbClr val="1565C0"/>
            </a:solidFill>
            <a:prstDash val="solid"/>
          </a:ln>
        </p:spPr>
      </p:sp>
      <p:sp>
        <p:nvSpPr>
          <p:cNvPr id="40" name="Text 38"/>
          <p:cNvSpPr/>
          <p:nvPr/>
        </p:nvSpPr>
        <p:spPr>
          <a:xfrm>
            <a:off x="4590288" y="397764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Testing &amp;</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Inspection</a:t>
            </a:r>
            <a:endParaRPr lang="en-US" sz="1100" dirty="0"/>
          </a:p>
        </p:txBody>
      </p:sp>
      <p:sp>
        <p:nvSpPr>
          <p:cNvPr id="41" name="Shape 39"/>
          <p:cNvSpPr/>
          <p:nvPr/>
        </p:nvSpPr>
        <p:spPr>
          <a:xfrm>
            <a:off x="6510528" y="4041648"/>
            <a:ext cx="201168" cy="0"/>
          </a:xfrm>
          <a:prstGeom prst="line">
            <a:avLst/>
          </a:prstGeom>
          <a:noFill/>
          <a:ln w="19050">
            <a:solidFill>
              <a:srgbClr val="607D8B"/>
            </a:solidFill>
            <a:prstDash val="dash"/>
          </a:ln>
        </p:spPr>
      </p:sp>
      <p:sp>
        <p:nvSpPr>
          <p:cNvPr id="42" name="Shape 40"/>
          <p:cNvSpPr/>
          <p:nvPr/>
        </p:nvSpPr>
        <p:spPr>
          <a:xfrm>
            <a:off x="6693408" y="3474720"/>
            <a:ext cx="1920240" cy="1188720"/>
          </a:xfrm>
          <a:prstGeom prst="rect">
            <a:avLst/>
          </a:prstGeom>
          <a:solidFill>
            <a:srgbClr val="F57F17">
              <a:alpha val="25000"/>
            </a:srgbClr>
          </a:solidFill>
          <a:ln w="25400">
            <a:solidFill>
              <a:srgbClr val="F57F17"/>
            </a:solidFill>
            <a:prstDash val="solid"/>
          </a:ln>
          <a:effectLst>
            <a:outerShdw blurRad="101600" dist="38100" dir="8100000" algn="bl" rotWithShape="0">
              <a:srgbClr val="000000">
                <a:alpha val="18000"/>
              </a:srgbClr>
            </a:outerShdw>
          </a:effectLst>
        </p:spPr>
      </p:sp>
      <p:sp>
        <p:nvSpPr>
          <p:cNvPr id="43" name="Text 41"/>
          <p:cNvSpPr/>
          <p:nvPr/>
        </p:nvSpPr>
        <p:spPr>
          <a:xfrm>
            <a:off x="6693408" y="3547872"/>
            <a:ext cx="1920240" cy="365760"/>
          </a:xfrm>
          <a:prstGeom prst="rect">
            <a:avLst/>
          </a:prstGeom>
          <a:noFill/>
          <a:ln/>
        </p:spPr>
        <p:txBody>
          <a:bodyPr wrap="square" lIns="0" tIns="0" rIns="0" bIns="0" rtlCol="0" anchor="ctr"/>
          <a:lstStyle/>
          <a:p>
            <a:pPr marL="0" indent="0" algn="ctr">
              <a:buNone/>
            </a:pPr>
            <a:r>
              <a:rPr lang="en-US" sz="1800" b="1" dirty="0">
                <a:solidFill>
                  <a:srgbClr val="F57F17"/>
                </a:solidFill>
                <a:latin typeface="Trebuchet MS" pitchFamily="34" charset="0"/>
                <a:ea typeface="Trebuchet MS" pitchFamily="34" charset="-122"/>
                <a:cs typeface="Trebuchet MS" pitchFamily="34" charset="-120"/>
              </a:rPr>
              <a:t>08</a:t>
            </a:r>
            <a:endParaRPr lang="en-US" sz="1800" dirty="0"/>
          </a:p>
        </p:txBody>
      </p:sp>
      <p:sp>
        <p:nvSpPr>
          <p:cNvPr id="44" name="Shape 42"/>
          <p:cNvSpPr/>
          <p:nvPr/>
        </p:nvSpPr>
        <p:spPr>
          <a:xfrm>
            <a:off x="7150608" y="3886200"/>
            <a:ext cx="1005840" cy="36576"/>
          </a:xfrm>
          <a:prstGeom prst="rect">
            <a:avLst/>
          </a:prstGeom>
          <a:solidFill>
            <a:srgbClr val="F57F17">
              <a:alpha val="70000"/>
            </a:srgbClr>
          </a:solidFill>
          <a:ln w="12700">
            <a:solidFill>
              <a:srgbClr val="F57F17"/>
            </a:solidFill>
            <a:prstDash val="solid"/>
          </a:ln>
        </p:spPr>
      </p:sp>
      <p:sp>
        <p:nvSpPr>
          <p:cNvPr id="45" name="Text 43"/>
          <p:cNvSpPr/>
          <p:nvPr/>
        </p:nvSpPr>
        <p:spPr>
          <a:xfrm>
            <a:off x="6693408" y="3977640"/>
            <a:ext cx="1920240" cy="594360"/>
          </a:xfrm>
          <a:prstGeom prst="rect">
            <a:avLst/>
          </a:prstGeom>
          <a:noFill/>
          <a:ln/>
        </p:spPr>
        <p:txBody>
          <a:bodyPr wrap="square" lIns="0" tIns="0" rIns="0" bIns="0" rtlCol="0" anchor="ctr"/>
          <a:lstStyle/>
          <a:p>
            <a:pPr marL="0" indent="0" algn="ctr">
              <a:buNone/>
            </a:pPr>
            <a:r>
              <a:rPr lang="en-US" sz="1100" b="1" dirty="0">
                <a:solidFill>
                  <a:srgbClr val="0B1D3A"/>
                </a:solidFill>
                <a:latin typeface="Calibri" pitchFamily="34" charset="0"/>
                <a:ea typeface="Calibri" pitchFamily="34" charset="-122"/>
                <a:cs typeface="Calibri" pitchFamily="34" charset="-120"/>
              </a:rPr>
              <a:t>Packaging &amp;</a:t>
            </a:r>
            <a:endParaRPr lang="en-US" sz="1100" dirty="0"/>
          </a:p>
          <a:p>
            <a:pPr marL="0" indent="0" algn="ctr">
              <a:buNone/>
            </a:pPr>
            <a:r>
              <a:rPr lang="en-US" sz="1100" b="1" dirty="0">
                <a:solidFill>
                  <a:srgbClr val="0B1D3A"/>
                </a:solidFill>
                <a:latin typeface="Calibri" pitchFamily="34" charset="0"/>
                <a:ea typeface="Calibri" pitchFamily="34" charset="-122"/>
                <a:cs typeface="Calibri" pitchFamily="34" charset="-120"/>
              </a:rPr>
              <a:t>Shipping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2244"/>
          </a:solidFill>
          <a:ln w="12700">
            <a:solidFill>
              <a:srgbClr val="0D2244"/>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5 of 12</a:t>
            </a:r>
            <a:endParaRPr lang="en-US" sz="1000" dirty="0"/>
          </a:p>
        </p:txBody>
      </p:sp>
      <p:sp>
        <p:nvSpPr>
          <p:cNvPr id="4" name="Shape 2"/>
          <p:cNvSpPr/>
          <p:nvPr/>
        </p:nvSpPr>
        <p:spPr>
          <a:xfrm>
            <a:off x="457200" y="658368"/>
            <a:ext cx="640080" cy="640080"/>
          </a:xfrm>
          <a:prstGeom prst="ellipse">
            <a:avLst/>
          </a:prstGeom>
          <a:solidFill>
            <a:srgbClr val="00897B"/>
          </a:solidFill>
          <a:ln w="12700">
            <a:solidFill>
              <a:srgbClr val="00897B"/>
            </a:solidFill>
            <a:prstDash val="solid"/>
          </a:ln>
        </p:spPr>
      </p:sp>
      <p:sp>
        <p:nvSpPr>
          <p:cNvPr id="5" name="Text 3"/>
          <p:cNvSpPr/>
          <p:nvPr/>
        </p:nvSpPr>
        <p:spPr>
          <a:xfrm>
            <a:off x="457200" y="658368"/>
            <a:ext cx="64008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01</a:t>
            </a:r>
            <a:endParaRPr lang="en-US" sz="1700" dirty="0"/>
          </a:p>
        </p:txBody>
      </p:sp>
      <p:sp>
        <p:nvSpPr>
          <p:cNvPr id="6" name="Text 4"/>
          <p:cNvSpPr/>
          <p:nvPr/>
        </p:nvSpPr>
        <p:spPr>
          <a:xfrm>
            <a:off x="1234440" y="713232"/>
            <a:ext cx="7498080" cy="530352"/>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Sand to Silicon: Purification</a:t>
            </a:r>
            <a:endParaRPr lang="en-US" sz="2400" dirty="0"/>
          </a:p>
        </p:txBody>
      </p:sp>
      <p:sp>
        <p:nvSpPr>
          <p:cNvPr id="7" name="Shape 5"/>
          <p:cNvSpPr/>
          <p:nvPr/>
        </p:nvSpPr>
        <p:spPr>
          <a:xfrm>
            <a:off x="457200" y="1371600"/>
            <a:ext cx="3657600" cy="2560320"/>
          </a:xfrm>
          <a:prstGeom prst="rect">
            <a:avLst/>
          </a:prstGeom>
          <a:solidFill>
            <a:srgbClr val="132040"/>
          </a:solidFill>
          <a:ln w="12700">
            <a:solidFill>
              <a:srgbClr val="00897B"/>
            </a:solidFill>
            <a:prstDash val="solid"/>
          </a:ln>
        </p:spPr>
      </p:sp>
      <p:sp>
        <p:nvSpPr>
          <p:cNvPr id="8" name="Text 6"/>
          <p:cNvSpPr/>
          <p:nvPr/>
        </p:nvSpPr>
        <p:spPr>
          <a:xfrm>
            <a:off x="457200" y="1371600"/>
            <a:ext cx="3657600" cy="2560320"/>
          </a:xfrm>
          <a:prstGeom prst="rect">
            <a:avLst/>
          </a:prstGeom>
          <a:noFill/>
          <a:ln/>
        </p:spPr>
        <p:txBody>
          <a:bodyPr wrap="square" lIns="0" tIns="0" rIns="0" bIns="0" rtlCol="0" anchor="ctr"/>
          <a:lstStyle/>
          <a:p>
            <a:pPr marL="0" indent="0" algn="ctr">
              <a:buNone/>
            </a:pPr>
            <a:r>
              <a:rPr lang="en-US" sz="1050" i="1" dirty="0">
                <a:solidFill>
                  <a:srgbClr val="B0BEC5"/>
                </a:solidFill>
                <a:latin typeface="Calibri" pitchFamily="34" charset="0"/>
                <a:ea typeface="Calibri" pitchFamily="34" charset="-122"/>
                <a:cs typeface="Calibri" pitchFamily="34" charset="-120"/>
              </a:rPr>
              <a:t>📷 [Placeholder: 3-step animation</a:t>
            </a:r>
            <a:endParaRPr lang="en-US" sz="1050" dirty="0"/>
          </a:p>
          <a:p>
            <a:pPr marL="0" indent="0" algn="ctr">
              <a:buNone/>
            </a:pPr>
            <a:r>
              <a:rPr lang="en-US" sz="1050" i="1" dirty="0">
                <a:solidFill>
                  <a:srgbClr val="B0BEC5"/>
                </a:solidFill>
                <a:latin typeface="Calibri" pitchFamily="34" charset="0"/>
                <a:ea typeface="Calibri" pitchFamily="34" charset="-122"/>
                <a:cs typeface="Calibri" pitchFamily="34" charset="-120"/>
              </a:rPr>
              <a:t>1. Sand pile → 2. Furnace glowing → 3. Pure silicon crystal ingot]</a:t>
            </a:r>
            <a:endParaRPr lang="en-US" sz="1050" dirty="0"/>
          </a:p>
          <a:p>
            <a:pPr marL="0" indent="0" algn="ctr">
              <a:buNone/>
            </a:pPr>
            <a:endParaRPr lang="en-US" sz="1050" dirty="0"/>
          </a:p>
          <a:p>
            <a:pPr marL="0" indent="0" algn="ctr">
              <a:buNone/>
            </a:pPr>
            <a:r>
              <a:rPr lang="en-US" sz="1050" i="1" dirty="0">
                <a:solidFill>
                  <a:srgbClr val="B0BEC5"/>
                </a:solidFill>
                <a:latin typeface="Calibri" pitchFamily="34" charset="0"/>
                <a:ea typeface="Calibri" pitchFamily="34" charset="-122"/>
                <a:cs typeface="Calibri" pitchFamily="34" charset="-120"/>
              </a:rPr>
              <a:t>Stock footage/3D animation recommended</a:t>
            </a:r>
            <a:endParaRPr lang="en-US" sz="1050" dirty="0"/>
          </a:p>
        </p:txBody>
      </p:sp>
      <p:sp>
        <p:nvSpPr>
          <p:cNvPr id="9" name="Shape 7"/>
          <p:cNvSpPr/>
          <p:nvPr/>
        </p:nvSpPr>
        <p:spPr>
          <a:xfrm>
            <a:off x="4370832" y="1399032"/>
            <a:ext cx="4572000" cy="594360"/>
          </a:xfrm>
          <a:prstGeom prst="rect">
            <a:avLst/>
          </a:prstGeom>
          <a:solidFill>
            <a:srgbClr val="132040"/>
          </a:solidFill>
          <a:ln w="12700">
            <a:solidFill>
              <a:srgbClr val="1565C0"/>
            </a:solidFill>
            <a:prstDash val="solid"/>
          </a:ln>
        </p:spPr>
      </p:sp>
      <p:sp>
        <p:nvSpPr>
          <p:cNvPr id="10" name="Text 8"/>
          <p:cNvSpPr/>
          <p:nvPr/>
        </p:nvSpPr>
        <p:spPr>
          <a:xfrm>
            <a:off x="4434840" y="1417320"/>
            <a:ext cx="4434840" cy="256032"/>
          </a:xfrm>
          <a:prstGeom prst="rect">
            <a:avLst/>
          </a:prstGeom>
          <a:noFill/>
          <a:ln/>
        </p:spPr>
        <p:txBody>
          <a:bodyPr wrap="square" lIns="0" tIns="0" rIns="0" bIns="0" rtlCol="0" anchor="ctr"/>
          <a:lstStyle/>
          <a:p>
            <a:pPr marL="0" indent="0">
              <a:buNone/>
            </a:pPr>
            <a:r>
              <a:rPr lang="en-US" sz="1300" b="1" dirty="0">
                <a:solidFill>
                  <a:srgbClr val="00BCD4"/>
                </a:solidFill>
                <a:latin typeface="Trebuchet MS" pitchFamily="34" charset="0"/>
                <a:ea typeface="Trebuchet MS" pitchFamily="34" charset="-122"/>
                <a:cs typeface="Trebuchet MS" pitchFamily="34" charset="-120"/>
              </a:rPr>
              <a:t>🏖️  Raw Material: Silica Sand</a:t>
            </a:r>
            <a:endParaRPr lang="en-US" sz="1300" dirty="0"/>
          </a:p>
        </p:txBody>
      </p:sp>
      <p:sp>
        <p:nvSpPr>
          <p:cNvPr id="11" name="Text 9"/>
          <p:cNvSpPr/>
          <p:nvPr/>
        </p:nvSpPr>
        <p:spPr>
          <a:xfrm>
            <a:off x="4434840" y="1673352"/>
            <a:ext cx="4434840" cy="320040"/>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Silicon dioxide (SiO₂) is the starting point — one of Earth's most abundant minerals.</a:t>
            </a:r>
            <a:endParaRPr lang="en-US" sz="1050" dirty="0"/>
          </a:p>
        </p:txBody>
      </p:sp>
      <p:sp>
        <p:nvSpPr>
          <p:cNvPr id="12" name="Shape 10"/>
          <p:cNvSpPr/>
          <p:nvPr/>
        </p:nvSpPr>
        <p:spPr>
          <a:xfrm>
            <a:off x="4370832" y="2057400"/>
            <a:ext cx="4572000" cy="594360"/>
          </a:xfrm>
          <a:prstGeom prst="rect">
            <a:avLst/>
          </a:prstGeom>
          <a:solidFill>
            <a:srgbClr val="132040"/>
          </a:solidFill>
          <a:ln w="12700">
            <a:solidFill>
              <a:srgbClr val="1565C0"/>
            </a:solidFill>
            <a:prstDash val="solid"/>
          </a:ln>
        </p:spPr>
      </p:sp>
      <p:sp>
        <p:nvSpPr>
          <p:cNvPr id="13" name="Text 11"/>
          <p:cNvSpPr/>
          <p:nvPr/>
        </p:nvSpPr>
        <p:spPr>
          <a:xfrm>
            <a:off x="4434840" y="2075688"/>
            <a:ext cx="4434840" cy="256032"/>
          </a:xfrm>
          <a:prstGeom prst="rect">
            <a:avLst/>
          </a:prstGeom>
          <a:noFill/>
          <a:ln/>
        </p:spPr>
        <p:txBody>
          <a:bodyPr wrap="square" lIns="0" tIns="0" rIns="0" bIns="0" rtlCol="0" anchor="ctr"/>
          <a:lstStyle/>
          <a:p>
            <a:pPr marL="0" indent="0">
              <a:buNone/>
            </a:pPr>
            <a:r>
              <a:rPr lang="en-US" sz="1300" b="1" dirty="0">
                <a:solidFill>
                  <a:srgbClr val="00BCD4"/>
                </a:solidFill>
                <a:latin typeface="Trebuchet MS" pitchFamily="34" charset="0"/>
                <a:ea typeface="Trebuchet MS" pitchFamily="34" charset="-122"/>
                <a:cs typeface="Trebuchet MS" pitchFamily="34" charset="-120"/>
              </a:rPr>
              <a:t>🔥  Smelting Process</a:t>
            </a:r>
            <a:endParaRPr lang="en-US" sz="1300" dirty="0"/>
          </a:p>
        </p:txBody>
      </p:sp>
      <p:sp>
        <p:nvSpPr>
          <p:cNvPr id="14" name="Text 12"/>
          <p:cNvSpPr/>
          <p:nvPr/>
        </p:nvSpPr>
        <p:spPr>
          <a:xfrm>
            <a:off x="4434840" y="2331720"/>
            <a:ext cx="4434840" cy="320040"/>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Heated to 1,600°C in an arc furnace → 98% pure silicon.</a:t>
            </a:r>
            <a:endParaRPr lang="en-US" sz="1050" dirty="0"/>
          </a:p>
        </p:txBody>
      </p:sp>
      <p:sp>
        <p:nvSpPr>
          <p:cNvPr id="15" name="Shape 13"/>
          <p:cNvSpPr/>
          <p:nvPr/>
        </p:nvSpPr>
        <p:spPr>
          <a:xfrm>
            <a:off x="4370832" y="2715768"/>
            <a:ext cx="4572000" cy="594360"/>
          </a:xfrm>
          <a:prstGeom prst="rect">
            <a:avLst/>
          </a:prstGeom>
          <a:solidFill>
            <a:srgbClr val="132040"/>
          </a:solidFill>
          <a:ln w="12700">
            <a:solidFill>
              <a:srgbClr val="1565C0"/>
            </a:solidFill>
            <a:prstDash val="solid"/>
          </a:ln>
        </p:spPr>
      </p:sp>
      <p:sp>
        <p:nvSpPr>
          <p:cNvPr id="16" name="Text 14"/>
          <p:cNvSpPr/>
          <p:nvPr/>
        </p:nvSpPr>
        <p:spPr>
          <a:xfrm>
            <a:off x="4434840" y="2734056"/>
            <a:ext cx="4434840" cy="256032"/>
          </a:xfrm>
          <a:prstGeom prst="rect">
            <a:avLst/>
          </a:prstGeom>
          <a:noFill/>
          <a:ln/>
        </p:spPr>
        <p:txBody>
          <a:bodyPr wrap="square" lIns="0" tIns="0" rIns="0" bIns="0" rtlCol="0" anchor="ctr"/>
          <a:lstStyle/>
          <a:p>
            <a:pPr marL="0" indent="0">
              <a:buNone/>
            </a:pPr>
            <a:r>
              <a:rPr lang="en-US" sz="1300" b="1" dirty="0">
                <a:solidFill>
                  <a:srgbClr val="00BCD4"/>
                </a:solidFill>
                <a:latin typeface="Trebuchet MS" pitchFamily="34" charset="0"/>
                <a:ea typeface="Trebuchet MS" pitchFamily="34" charset="-122"/>
                <a:cs typeface="Trebuchet MS" pitchFamily="34" charset="-120"/>
              </a:rPr>
              <a:t>🧪  Further Purification</a:t>
            </a:r>
            <a:endParaRPr lang="en-US" sz="1300" dirty="0"/>
          </a:p>
        </p:txBody>
      </p:sp>
      <p:sp>
        <p:nvSpPr>
          <p:cNvPr id="17" name="Text 15"/>
          <p:cNvSpPr/>
          <p:nvPr/>
        </p:nvSpPr>
        <p:spPr>
          <a:xfrm>
            <a:off x="4434840" y="2990088"/>
            <a:ext cx="4434840" cy="320040"/>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Trichlorosilane process → 99.9999999% purity (nine nines).</a:t>
            </a:r>
            <a:endParaRPr lang="en-US" sz="1050" dirty="0"/>
          </a:p>
        </p:txBody>
      </p:sp>
      <p:sp>
        <p:nvSpPr>
          <p:cNvPr id="18" name="Shape 16"/>
          <p:cNvSpPr/>
          <p:nvPr/>
        </p:nvSpPr>
        <p:spPr>
          <a:xfrm>
            <a:off x="4370832" y="3374136"/>
            <a:ext cx="4572000" cy="594360"/>
          </a:xfrm>
          <a:prstGeom prst="rect">
            <a:avLst/>
          </a:prstGeom>
          <a:solidFill>
            <a:srgbClr val="132040"/>
          </a:solidFill>
          <a:ln w="12700">
            <a:solidFill>
              <a:srgbClr val="1565C0"/>
            </a:solidFill>
            <a:prstDash val="solid"/>
          </a:ln>
        </p:spPr>
      </p:sp>
      <p:sp>
        <p:nvSpPr>
          <p:cNvPr id="19" name="Text 17"/>
          <p:cNvSpPr/>
          <p:nvPr/>
        </p:nvSpPr>
        <p:spPr>
          <a:xfrm>
            <a:off x="4434840" y="3392424"/>
            <a:ext cx="4434840" cy="256032"/>
          </a:xfrm>
          <a:prstGeom prst="rect">
            <a:avLst/>
          </a:prstGeom>
          <a:noFill/>
          <a:ln/>
        </p:spPr>
        <p:txBody>
          <a:bodyPr wrap="square" lIns="0" tIns="0" rIns="0" bIns="0" rtlCol="0" anchor="ctr"/>
          <a:lstStyle/>
          <a:p>
            <a:pPr marL="0" indent="0">
              <a:buNone/>
            </a:pPr>
            <a:r>
              <a:rPr lang="en-US" sz="1300" b="1" dirty="0">
                <a:solidFill>
                  <a:srgbClr val="00BCD4"/>
                </a:solidFill>
                <a:latin typeface="Trebuchet MS" pitchFamily="34" charset="0"/>
                <a:ea typeface="Trebuchet MS" pitchFamily="34" charset="-122"/>
                <a:cs typeface="Trebuchet MS" pitchFamily="34" charset="-120"/>
              </a:rPr>
              <a:t>💎  Crystal Growth (Czochralski)</a:t>
            </a:r>
            <a:endParaRPr lang="en-US" sz="1300" dirty="0"/>
          </a:p>
        </p:txBody>
      </p:sp>
      <p:sp>
        <p:nvSpPr>
          <p:cNvPr id="20" name="Text 18"/>
          <p:cNvSpPr/>
          <p:nvPr/>
        </p:nvSpPr>
        <p:spPr>
          <a:xfrm>
            <a:off x="4434840" y="3648456"/>
            <a:ext cx="4434840" cy="320040"/>
          </a:xfrm>
          <a:prstGeom prst="rect">
            <a:avLst/>
          </a:prstGeom>
          <a:noFill/>
          <a:ln/>
        </p:spPr>
        <p:txBody>
          <a:bodyPr wrap="square" lIns="0" tIns="0" rIns="0" bIns="0" rtlCol="0" anchor="ctr"/>
          <a:lstStyle/>
          <a:p>
            <a:pPr marL="0" indent="0">
              <a:buNone/>
            </a:pPr>
            <a:r>
              <a:rPr lang="en-US" sz="1050" dirty="0">
                <a:solidFill>
                  <a:srgbClr val="B0BEC5"/>
                </a:solidFill>
                <a:latin typeface="Calibri" pitchFamily="34" charset="0"/>
                <a:ea typeface="Calibri" pitchFamily="34" charset="-122"/>
                <a:cs typeface="Calibri" pitchFamily="34" charset="-120"/>
              </a:rPr>
              <a:t>Czochralski method pulls molten silicon into a crystal ingot.</a:t>
            </a:r>
            <a:endParaRPr lang="en-US" sz="1050" dirty="0"/>
          </a:p>
        </p:txBody>
      </p:sp>
      <p:sp>
        <p:nvSpPr>
          <p:cNvPr id="21" name="Shape 19"/>
          <p:cNvSpPr/>
          <p:nvPr/>
        </p:nvSpPr>
        <p:spPr>
          <a:xfrm>
            <a:off x="457200" y="4069080"/>
            <a:ext cx="8229600" cy="658368"/>
          </a:xfrm>
          <a:prstGeom prst="rect">
            <a:avLst/>
          </a:prstGeom>
          <a:solidFill>
            <a:srgbClr val="00897B">
              <a:alpha val="18000"/>
            </a:srgbClr>
          </a:solidFill>
          <a:ln w="12700">
            <a:solidFill>
              <a:srgbClr val="00897B"/>
            </a:solidFill>
            <a:prstDash val="solid"/>
          </a:ln>
        </p:spPr>
      </p:sp>
      <p:sp>
        <p:nvSpPr>
          <p:cNvPr id="22" name="Text 20"/>
          <p:cNvSpPr/>
          <p:nvPr/>
        </p:nvSpPr>
        <p:spPr>
          <a:xfrm>
            <a:off x="594360" y="4078224"/>
            <a:ext cx="7955280" cy="64008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  Fun Fact: One ingot = 300mm wide, 100kg+, weeks to grow.</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1D3A"/>
          </a:solidFill>
          <a:ln w="12700">
            <a:solidFill>
              <a:srgbClr val="0B1D3A"/>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6 of 12</a:t>
            </a:r>
            <a:endParaRPr lang="en-US" sz="1000" dirty="0"/>
          </a:p>
        </p:txBody>
      </p:sp>
      <p:sp>
        <p:nvSpPr>
          <p:cNvPr id="4" name="Text 2"/>
          <p:cNvSpPr/>
          <p:nvPr/>
        </p:nvSpPr>
        <p:spPr>
          <a:xfrm>
            <a:off x="457200" y="594360"/>
            <a:ext cx="8229600" cy="530352"/>
          </a:xfrm>
          <a:prstGeom prst="rect">
            <a:avLst/>
          </a:prstGeom>
          <a:noFill/>
          <a:ln/>
        </p:spPr>
        <p:txBody>
          <a:bodyPr wrap="square" lIns="0" tIns="0" rIns="0" bIns="0" rtlCol="0" anchor="ctr"/>
          <a:lstStyle/>
          <a:p>
            <a:pPr marL="0" indent="0">
              <a:buNone/>
            </a:pPr>
            <a:r>
              <a:rPr lang="en-US" sz="2200" b="1" dirty="0">
                <a:solidFill>
                  <a:srgbClr val="0B1D3A"/>
                </a:solidFill>
                <a:latin typeface="Trebuchet MS" pitchFamily="34" charset="0"/>
                <a:ea typeface="Trebuchet MS" pitchFamily="34" charset="-122"/>
                <a:cs typeface="Trebuchet MS" pitchFamily="34" charset="-120"/>
              </a:rPr>
              <a:t>Wafer Slicing, Photolithography &amp; Etching</a:t>
            </a:r>
            <a:endParaRPr lang="en-US" sz="2200" dirty="0"/>
          </a:p>
        </p:txBody>
      </p:sp>
      <p:sp>
        <p:nvSpPr>
          <p:cNvPr id="5" name="Shape 3"/>
          <p:cNvSpPr/>
          <p:nvPr/>
        </p:nvSpPr>
        <p:spPr>
          <a:xfrm>
            <a:off x="475488" y="1234440"/>
            <a:ext cx="530352" cy="530352"/>
          </a:xfrm>
          <a:prstGeom prst="ellipse">
            <a:avLst/>
          </a:prstGeom>
          <a:solidFill>
            <a:srgbClr val="1565C0"/>
          </a:solidFill>
          <a:ln w="12700">
            <a:solidFill>
              <a:srgbClr val="1565C0"/>
            </a:solidFill>
            <a:prstDash val="solid"/>
          </a:ln>
        </p:spPr>
      </p:sp>
      <p:sp>
        <p:nvSpPr>
          <p:cNvPr id="6" name="Text 4"/>
          <p:cNvSpPr/>
          <p:nvPr/>
        </p:nvSpPr>
        <p:spPr>
          <a:xfrm>
            <a:off x="475488"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02</a:t>
            </a:r>
            <a:endParaRPr lang="en-US" sz="1400" dirty="0"/>
          </a:p>
        </p:txBody>
      </p:sp>
      <p:sp>
        <p:nvSpPr>
          <p:cNvPr id="7" name="Text 5"/>
          <p:cNvSpPr/>
          <p:nvPr/>
        </p:nvSpPr>
        <p:spPr>
          <a:xfrm>
            <a:off x="1097280" y="1261872"/>
            <a:ext cx="1965960" cy="502920"/>
          </a:xfrm>
          <a:prstGeom prst="rect">
            <a:avLst/>
          </a:prstGeom>
          <a:noFill/>
          <a:ln/>
        </p:spPr>
        <p:txBody>
          <a:bodyPr wrap="square" lIns="0" tIns="0" rIns="0" bIns="0" rtlCol="0" anchor="ctr"/>
          <a:lstStyle/>
          <a:p>
            <a:pPr marL="0" indent="0">
              <a:buNone/>
            </a:pPr>
            <a:r>
              <a:rPr lang="en-US" sz="1400" b="1" dirty="0">
                <a:solidFill>
                  <a:srgbClr val="1565C0"/>
                </a:solidFill>
                <a:latin typeface="Trebuchet MS" pitchFamily="34" charset="0"/>
                <a:ea typeface="Trebuchet MS" pitchFamily="34" charset="-122"/>
                <a:cs typeface="Trebuchet MS" pitchFamily="34" charset="-120"/>
              </a:rPr>
              <a:t>Wafer Slicing</a:t>
            </a:r>
            <a:endParaRPr lang="en-US" sz="1400" dirty="0"/>
          </a:p>
        </p:txBody>
      </p:sp>
      <p:sp>
        <p:nvSpPr>
          <p:cNvPr id="8" name="Shape 6"/>
          <p:cNvSpPr/>
          <p:nvPr/>
        </p:nvSpPr>
        <p:spPr>
          <a:xfrm>
            <a:off x="384048" y="1874520"/>
            <a:ext cx="2606040" cy="1417320"/>
          </a:xfrm>
          <a:prstGeom prst="rect">
            <a:avLst/>
          </a:prstGeom>
          <a:solidFill>
            <a:srgbClr val="E8EDF2"/>
          </a:solidFill>
          <a:ln w="12700">
            <a:solidFill>
              <a:srgbClr val="1565C0"/>
            </a:solidFill>
            <a:prstDash val="solid"/>
          </a:ln>
        </p:spPr>
      </p:sp>
      <p:sp>
        <p:nvSpPr>
          <p:cNvPr id="9" name="Text 7"/>
          <p:cNvSpPr/>
          <p:nvPr/>
        </p:nvSpPr>
        <p:spPr>
          <a:xfrm>
            <a:off x="384048" y="1874520"/>
            <a:ext cx="2606040" cy="1417320"/>
          </a:xfrm>
          <a:prstGeom prst="rect">
            <a:avLst/>
          </a:prstGeom>
          <a:noFill/>
          <a:ln/>
        </p:spPr>
        <p:txBody>
          <a:bodyPr wrap="square" lIns="0" tIns="0" rIns="0" bIns="0" rtlCol="0" anchor="ctr"/>
          <a:lstStyle/>
          <a:p>
            <a:pPr marL="0" indent="0" algn="ctr">
              <a:buNone/>
            </a:pPr>
            <a:r>
              <a:rPr lang="en-US" sz="950" i="1" dirty="0">
                <a:solidFill>
                  <a:srgbClr val="607D8B"/>
                </a:solidFill>
                <a:latin typeface="Calibri" pitchFamily="34" charset="0"/>
                <a:ea typeface="Calibri" pitchFamily="34" charset="-122"/>
                <a:cs typeface="Calibri" pitchFamily="34" charset="-120"/>
              </a:rPr>
              <a:t>📷 [Ingot slicing animation: diamond wire cutting across, wafer discs falling out]</a:t>
            </a:r>
            <a:endParaRPr lang="en-US" sz="950" dirty="0"/>
          </a:p>
        </p:txBody>
      </p:sp>
      <p:sp>
        <p:nvSpPr>
          <p:cNvPr id="10" name="Text 8"/>
          <p:cNvSpPr/>
          <p:nvPr/>
        </p:nvSpPr>
        <p:spPr>
          <a:xfrm>
            <a:off x="384048" y="3383280"/>
            <a:ext cx="2606040" cy="914400"/>
          </a:xfrm>
          <a:prstGeom prst="rect">
            <a:avLst/>
          </a:prstGeom>
          <a:noFill/>
          <a:ln/>
        </p:spPr>
        <p:txBody>
          <a:bodyPr wrap="square" lIns="0" tIns="0" rIns="0" bIns="0" rtlCol="0" anchor="t"/>
          <a:lstStyle/>
          <a:p>
            <a:pPr marL="0" indent="0">
              <a:buNone/>
            </a:pPr>
            <a:r>
              <a:rPr lang="en-US" sz="1100" dirty="0">
                <a:solidFill>
                  <a:srgbClr val="0B1D3A"/>
                </a:solidFill>
                <a:latin typeface="Calibri" pitchFamily="34" charset="0"/>
                <a:ea typeface="Calibri" pitchFamily="34" charset="-122"/>
                <a:cs typeface="Calibri" pitchFamily="34" charset="-120"/>
              </a:rPr>
              <a:t>Diamond wire saws slice ingot into ~1mm wafers; polished to mirror finish.</a:t>
            </a:r>
            <a:endParaRPr lang="en-US" sz="1100" dirty="0"/>
          </a:p>
        </p:txBody>
      </p:sp>
      <p:pic>
        <p:nvPicPr>
          <p:cNvPr id="11" name="Image 0" descr="preencoded.png"/>
          <p:cNvPicPr>
            <a:picLocks noChangeAspect="1"/>
          </p:cNvPicPr>
          <p:nvPr/>
        </p:nvPicPr>
        <p:blipFill>
          <a:blip r:embed="rId3"/>
          <a:stretch>
            <a:fillRect/>
          </a:stretch>
        </p:blipFill>
        <p:spPr>
          <a:xfrm>
            <a:off x="3035808" y="2450592"/>
            <a:ext cx="228600" cy="228600"/>
          </a:xfrm>
          <a:prstGeom prst="rect">
            <a:avLst/>
          </a:prstGeom>
        </p:spPr>
      </p:pic>
      <p:sp>
        <p:nvSpPr>
          <p:cNvPr id="12" name="Shape 9"/>
          <p:cNvSpPr/>
          <p:nvPr/>
        </p:nvSpPr>
        <p:spPr>
          <a:xfrm>
            <a:off x="3310128" y="1234440"/>
            <a:ext cx="530352" cy="530352"/>
          </a:xfrm>
          <a:prstGeom prst="ellipse">
            <a:avLst/>
          </a:prstGeom>
          <a:solidFill>
            <a:srgbClr val="7B1FA2"/>
          </a:solidFill>
          <a:ln w="12700">
            <a:solidFill>
              <a:srgbClr val="7B1FA2"/>
            </a:solidFill>
            <a:prstDash val="solid"/>
          </a:ln>
        </p:spPr>
      </p:sp>
      <p:sp>
        <p:nvSpPr>
          <p:cNvPr id="13" name="Text 10"/>
          <p:cNvSpPr/>
          <p:nvPr/>
        </p:nvSpPr>
        <p:spPr>
          <a:xfrm>
            <a:off x="3310128"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03</a:t>
            </a:r>
            <a:endParaRPr lang="en-US" sz="1400" dirty="0"/>
          </a:p>
        </p:txBody>
      </p:sp>
      <p:sp>
        <p:nvSpPr>
          <p:cNvPr id="14" name="Text 11"/>
          <p:cNvSpPr/>
          <p:nvPr/>
        </p:nvSpPr>
        <p:spPr>
          <a:xfrm>
            <a:off x="3931920" y="1261872"/>
            <a:ext cx="1965960" cy="502920"/>
          </a:xfrm>
          <a:prstGeom prst="rect">
            <a:avLst/>
          </a:prstGeom>
          <a:noFill/>
          <a:ln/>
        </p:spPr>
        <p:txBody>
          <a:bodyPr wrap="square" lIns="0" tIns="0" rIns="0" bIns="0" rtlCol="0" anchor="ctr"/>
          <a:lstStyle/>
          <a:p>
            <a:pPr marL="0" indent="0">
              <a:buNone/>
            </a:pPr>
            <a:r>
              <a:rPr lang="en-US" sz="1400" b="1" dirty="0">
                <a:solidFill>
                  <a:srgbClr val="7B1FA2"/>
                </a:solidFill>
                <a:latin typeface="Trebuchet MS" pitchFamily="34" charset="0"/>
                <a:ea typeface="Trebuchet MS" pitchFamily="34" charset="-122"/>
                <a:cs typeface="Trebuchet MS" pitchFamily="34" charset="-120"/>
              </a:rPr>
              <a:t>Photolithography</a:t>
            </a:r>
            <a:endParaRPr lang="en-US" sz="1400" dirty="0"/>
          </a:p>
        </p:txBody>
      </p:sp>
      <p:sp>
        <p:nvSpPr>
          <p:cNvPr id="15" name="Shape 12"/>
          <p:cNvSpPr/>
          <p:nvPr/>
        </p:nvSpPr>
        <p:spPr>
          <a:xfrm>
            <a:off x="3218688" y="1874520"/>
            <a:ext cx="2606040" cy="1417320"/>
          </a:xfrm>
          <a:prstGeom prst="rect">
            <a:avLst/>
          </a:prstGeom>
          <a:solidFill>
            <a:srgbClr val="E8EDF2"/>
          </a:solidFill>
          <a:ln w="12700">
            <a:solidFill>
              <a:srgbClr val="7B1FA2"/>
            </a:solidFill>
            <a:prstDash val="solid"/>
          </a:ln>
        </p:spPr>
      </p:sp>
      <p:sp>
        <p:nvSpPr>
          <p:cNvPr id="16" name="Text 13"/>
          <p:cNvSpPr/>
          <p:nvPr/>
        </p:nvSpPr>
        <p:spPr>
          <a:xfrm>
            <a:off x="3218688" y="1874520"/>
            <a:ext cx="2606040" cy="1417320"/>
          </a:xfrm>
          <a:prstGeom prst="rect">
            <a:avLst/>
          </a:prstGeom>
          <a:noFill/>
          <a:ln/>
        </p:spPr>
        <p:txBody>
          <a:bodyPr wrap="square" lIns="0" tIns="0" rIns="0" bIns="0" rtlCol="0" anchor="ctr"/>
          <a:lstStyle/>
          <a:p>
            <a:pPr marL="0" indent="0" algn="ctr">
              <a:buNone/>
            </a:pPr>
            <a:r>
              <a:rPr lang="en-US" sz="950" i="1" dirty="0">
                <a:solidFill>
                  <a:srgbClr val="607D8B"/>
                </a:solidFill>
                <a:latin typeface="Calibri" pitchFamily="34" charset="0"/>
                <a:ea typeface="Calibri" pitchFamily="34" charset="-122"/>
                <a:cs typeface="Calibri" pitchFamily="34" charset="-120"/>
              </a:rPr>
              <a:t>📷 [UV light beam hitting wafer, circuit pattern appears glowing]</a:t>
            </a:r>
            <a:endParaRPr lang="en-US" sz="950" dirty="0"/>
          </a:p>
        </p:txBody>
      </p:sp>
      <p:sp>
        <p:nvSpPr>
          <p:cNvPr id="17" name="Text 14"/>
          <p:cNvSpPr/>
          <p:nvPr/>
        </p:nvSpPr>
        <p:spPr>
          <a:xfrm>
            <a:off x="3218688" y="3383280"/>
            <a:ext cx="2606040" cy="914400"/>
          </a:xfrm>
          <a:prstGeom prst="rect">
            <a:avLst/>
          </a:prstGeom>
          <a:noFill/>
          <a:ln/>
        </p:spPr>
        <p:txBody>
          <a:bodyPr wrap="square" lIns="0" tIns="0" rIns="0" bIns="0" rtlCol="0" anchor="t"/>
          <a:lstStyle/>
          <a:p>
            <a:pPr marL="0" indent="0">
              <a:buNone/>
            </a:pPr>
            <a:r>
              <a:rPr lang="en-US" sz="1100" dirty="0">
                <a:solidFill>
                  <a:srgbClr val="0B1D3A"/>
                </a:solidFill>
                <a:latin typeface="Calibri" pitchFamily="34" charset="0"/>
                <a:ea typeface="Calibri" pitchFamily="34" charset="-122"/>
                <a:cs typeface="Calibri" pitchFamily="34" charset="-120"/>
              </a:rPr>
              <a:t>UV light projects circuit pattern (mask) onto photoresist-coated wafer.</a:t>
            </a:r>
            <a:endParaRPr lang="en-US" sz="1100" dirty="0"/>
          </a:p>
        </p:txBody>
      </p:sp>
      <p:pic>
        <p:nvPicPr>
          <p:cNvPr id="18" name="Image 1" descr="preencoded.png"/>
          <p:cNvPicPr>
            <a:picLocks noChangeAspect="1"/>
          </p:cNvPicPr>
          <p:nvPr/>
        </p:nvPicPr>
        <p:blipFill>
          <a:blip r:embed="rId3"/>
          <a:stretch>
            <a:fillRect/>
          </a:stretch>
        </p:blipFill>
        <p:spPr>
          <a:xfrm>
            <a:off x="5870448" y="2450592"/>
            <a:ext cx="228600" cy="228600"/>
          </a:xfrm>
          <a:prstGeom prst="rect">
            <a:avLst/>
          </a:prstGeom>
        </p:spPr>
      </p:pic>
      <p:sp>
        <p:nvSpPr>
          <p:cNvPr id="19" name="Shape 15"/>
          <p:cNvSpPr/>
          <p:nvPr/>
        </p:nvSpPr>
        <p:spPr>
          <a:xfrm>
            <a:off x="6144768" y="1234440"/>
            <a:ext cx="530352" cy="530352"/>
          </a:xfrm>
          <a:prstGeom prst="ellipse">
            <a:avLst/>
          </a:prstGeom>
          <a:solidFill>
            <a:srgbClr val="E65100"/>
          </a:solidFill>
          <a:ln w="12700">
            <a:solidFill>
              <a:srgbClr val="E65100"/>
            </a:solidFill>
            <a:prstDash val="solid"/>
          </a:ln>
        </p:spPr>
      </p:sp>
      <p:sp>
        <p:nvSpPr>
          <p:cNvPr id="20" name="Text 16"/>
          <p:cNvSpPr/>
          <p:nvPr/>
        </p:nvSpPr>
        <p:spPr>
          <a:xfrm>
            <a:off x="6144768"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04</a:t>
            </a:r>
            <a:endParaRPr lang="en-US" sz="1400" dirty="0"/>
          </a:p>
        </p:txBody>
      </p:sp>
      <p:sp>
        <p:nvSpPr>
          <p:cNvPr id="21" name="Text 17"/>
          <p:cNvSpPr/>
          <p:nvPr/>
        </p:nvSpPr>
        <p:spPr>
          <a:xfrm>
            <a:off x="6766560" y="1261872"/>
            <a:ext cx="1965960" cy="502920"/>
          </a:xfrm>
          <a:prstGeom prst="rect">
            <a:avLst/>
          </a:prstGeom>
          <a:noFill/>
          <a:ln/>
        </p:spPr>
        <p:txBody>
          <a:bodyPr wrap="square" lIns="0" tIns="0" rIns="0" bIns="0" rtlCol="0" anchor="ctr"/>
          <a:lstStyle/>
          <a:p>
            <a:pPr marL="0" indent="0">
              <a:buNone/>
            </a:pPr>
            <a:r>
              <a:rPr lang="en-US" sz="1400" b="1" dirty="0">
                <a:solidFill>
                  <a:srgbClr val="E65100"/>
                </a:solidFill>
                <a:latin typeface="Trebuchet MS" pitchFamily="34" charset="0"/>
                <a:ea typeface="Trebuchet MS" pitchFamily="34" charset="-122"/>
                <a:cs typeface="Trebuchet MS" pitchFamily="34" charset="-120"/>
              </a:rPr>
              <a:t>Etching</a:t>
            </a:r>
            <a:endParaRPr lang="en-US" sz="1400" dirty="0"/>
          </a:p>
        </p:txBody>
      </p:sp>
      <p:sp>
        <p:nvSpPr>
          <p:cNvPr id="22" name="Shape 18"/>
          <p:cNvSpPr/>
          <p:nvPr/>
        </p:nvSpPr>
        <p:spPr>
          <a:xfrm>
            <a:off x="6053328" y="1874520"/>
            <a:ext cx="2606040" cy="1417320"/>
          </a:xfrm>
          <a:prstGeom prst="rect">
            <a:avLst/>
          </a:prstGeom>
          <a:solidFill>
            <a:srgbClr val="E8EDF2"/>
          </a:solidFill>
          <a:ln w="12700">
            <a:solidFill>
              <a:srgbClr val="E65100"/>
            </a:solidFill>
            <a:prstDash val="solid"/>
          </a:ln>
        </p:spPr>
      </p:sp>
      <p:sp>
        <p:nvSpPr>
          <p:cNvPr id="23" name="Text 19"/>
          <p:cNvSpPr/>
          <p:nvPr/>
        </p:nvSpPr>
        <p:spPr>
          <a:xfrm>
            <a:off x="6053328" y="1874520"/>
            <a:ext cx="2606040" cy="1417320"/>
          </a:xfrm>
          <a:prstGeom prst="rect">
            <a:avLst/>
          </a:prstGeom>
          <a:noFill/>
          <a:ln/>
        </p:spPr>
        <p:txBody>
          <a:bodyPr wrap="square" lIns="0" tIns="0" rIns="0" bIns="0" rtlCol="0" anchor="ctr"/>
          <a:lstStyle/>
          <a:p>
            <a:pPr marL="0" indent="0" algn="ctr">
              <a:buNone/>
            </a:pPr>
            <a:r>
              <a:rPr lang="en-US" sz="950" i="1" dirty="0">
                <a:solidFill>
                  <a:srgbClr val="607D8B"/>
                </a:solidFill>
                <a:latin typeface="Calibri" pitchFamily="34" charset="0"/>
                <a:ea typeface="Calibri" pitchFamily="34" charset="-122"/>
                <a:cs typeface="Calibri" pitchFamily="34" charset="-120"/>
              </a:rPr>
              <a:t>📷 [Microscopic view: plasma etching away unwanted layers, channels forming]</a:t>
            </a:r>
            <a:endParaRPr lang="en-US" sz="950" dirty="0"/>
          </a:p>
        </p:txBody>
      </p:sp>
      <p:sp>
        <p:nvSpPr>
          <p:cNvPr id="24" name="Text 20"/>
          <p:cNvSpPr/>
          <p:nvPr/>
        </p:nvSpPr>
        <p:spPr>
          <a:xfrm>
            <a:off x="6053328" y="3383280"/>
            <a:ext cx="2606040" cy="914400"/>
          </a:xfrm>
          <a:prstGeom prst="rect">
            <a:avLst/>
          </a:prstGeom>
          <a:noFill/>
          <a:ln/>
        </p:spPr>
        <p:txBody>
          <a:bodyPr wrap="square" lIns="0" tIns="0" rIns="0" bIns="0" rtlCol="0" anchor="t"/>
          <a:lstStyle/>
          <a:p>
            <a:pPr marL="0" indent="0">
              <a:buNone/>
            </a:pPr>
            <a:r>
              <a:rPr lang="en-US" sz="1100" dirty="0">
                <a:solidFill>
                  <a:srgbClr val="0B1D3A"/>
                </a:solidFill>
                <a:latin typeface="Calibri" pitchFamily="34" charset="0"/>
                <a:ea typeface="Calibri" pitchFamily="34" charset="-122"/>
                <a:cs typeface="Calibri" pitchFamily="34" charset="-120"/>
              </a:rPr>
              <a:t>Plasma removes exposed areas, carving nanoscale circuit channels.</a:t>
            </a:r>
            <a:endParaRPr lang="en-US" sz="1100" dirty="0"/>
          </a:p>
        </p:txBody>
      </p:sp>
      <p:sp>
        <p:nvSpPr>
          <p:cNvPr id="25" name="Shape 21"/>
          <p:cNvSpPr/>
          <p:nvPr/>
        </p:nvSpPr>
        <p:spPr>
          <a:xfrm>
            <a:off x="457200" y="4407408"/>
            <a:ext cx="8229600" cy="411480"/>
          </a:xfrm>
          <a:prstGeom prst="rect">
            <a:avLst/>
          </a:prstGeom>
          <a:solidFill>
            <a:srgbClr val="0B1D3A">
              <a:alpha val="10000"/>
            </a:srgbClr>
          </a:solidFill>
          <a:ln w="12700">
            <a:solidFill>
              <a:srgbClr val="B0BEC5"/>
            </a:solidFill>
            <a:prstDash val="solid"/>
          </a:ln>
        </p:spPr>
      </p:sp>
      <p:sp>
        <p:nvSpPr>
          <p:cNvPr id="26" name="Text 22"/>
          <p:cNvSpPr/>
          <p:nvPr/>
        </p:nvSpPr>
        <p:spPr>
          <a:xfrm>
            <a:off x="457200" y="4407408"/>
            <a:ext cx="8229600" cy="411480"/>
          </a:xfrm>
          <a:prstGeom prst="rect">
            <a:avLst/>
          </a:prstGeom>
          <a:noFill/>
          <a:ln/>
        </p:spPr>
        <p:txBody>
          <a:bodyPr wrap="square" lIns="0" tIns="0" rIns="0" bIns="0" rtlCol="0" anchor="ctr"/>
          <a:lstStyle/>
          <a:p>
            <a:pPr marL="0" indent="0" algn="ctr">
              <a:buNone/>
            </a:pPr>
            <a:r>
              <a:rPr lang="en-US" sz="1100" dirty="0">
                <a:solidFill>
                  <a:srgbClr val="0B1D3A"/>
                </a:solidFill>
                <a:latin typeface="Calibri" pitchFamily="34" charset="0"/>
                <a:ea typeface="Calibri" pitchFamily="34" charset="-122"/>
                <a:cs typeface="Calibri" pitchFamily="34" charset="-120"/>
              </a:rPr>
              <a:t>⚡ Scale: Human hair = 1,000x wider than a circuit channel (2nm).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2244"/>
          </a:solidFill>
          <a:ln w="12700">
            <a:solidFill>
              <a:srgbClr val="0D2244"/>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7 of 12</a:t>
            </a:r>
            <a:endParaRPr lang="en-US" sz="1000" dirty="0"/>
          </a:p>
        </p:txBody>
      </p:sp>
      <p:sp>
        <p:nvSpPr>
          <p:cNvPr id="4" name="Text 2"/>
          <p:cNvSpPr/>
          <p:nvPr/>
        </p:nvSpPr>
        <p:spPr>
          <a:xfrm>
            <a:off x="457200" y="594360"/>
            <a:ext cx="8229600" cy="530352"/>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Doping, Ion Implantation &amp; Deposition</a:t>
            </a:r>
            <a:endParaRPr lang="en-US" sz="2200" dirty="0"/>
          </a:p>
        </p:txBody>
      </p:sp>
      <p:sp>
        <p:nvSpPr>
          <p:cNvPr id="5" name="Shape 3"/>
          <p:cNvSpPr/>
          <p:nvPr/>
        </p:nvSpPr>
        <p:spPr>
          <a:xfrm>
            <a:off x="457200" y="1234440"/>
            <a:ext cx="530352" cy="530352"/>
          </a:xfrm>
          <a:prstGeom prst="ellipse">
            <a:avLst/>
          </a:prstGeom>
          <a:solidFill>
            <a:srgbClr val="AD1457"/>
          </a:solidFill>
          <a:ln w="12700">
            <a:solidFill>
              <a:srgbClr val="AD1457"/>
            </a:solidFill>
            <a:prstDash val="solid"/>
          </a:ln>
        </p:spPr>
      </p:sp>
      <p:sp>
        <p:nvSpPr>
          <p:cNvPr id="6" name="Text 4"/>
          <p:cNvSpPr/>
          <p:nvPr/>
        </p:nvSpPr>
        <p:spPr>
          <a:xfrm>
            <a:off x="457200"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05</a:t>
            </a:r>
            <a:endParaRPr lang="en-US" sz="1400" dirty="0"/>
          </a:p>
        </p:txBody>
      </p:sp>
      <p:sp>
        <p:nvSpPr>
          <p:cNvPr id="7" name="Text 5"/>
          <p:cNvSpPr/>
          <p:nvPr/>
        </p:nvSpPr>
        <p:spPr>
          <a:xfrm>
            <a:off x="1097280" y="1280160"/>
            <a:ext cx="3474720" cy="457200"/>
          </a:xfrm>
          <a:prstGeom prst="rect">
            <a:avLst/>
          </a:prstGeom>
          <a:noFill/>
          <a:ln/>
        </p:spPr>
        <p:txBody>
          <a:bodyPr wrap="square" lIns="0" tIns="0" rIns="0" bIns="0" rtlCol="0" anchor="ctr"/>
          <a:lstStyle/>
          <a:p>
            <a:pPr marL="0" indent="0">
              <a:buNone/>
            </a:pPr>
            <a:r>
              <a:rPr lang="en-US" sz="1600" b="1" dirty="0">
                <a:solidFill>
                  <a:srgbClr val="E040FB"/>
                </a:solidFill>
                <a:latin typeface="Trebuchet MS" pitchFamily="34" charset="0"/>
                <a:ea typeface="Trebuchet MS" pitchFamily="34" charset="-122"/>
                <a:cs typeface="Trebuchet MS" pitchFamily="34" charset="-120"/>
              </a:rPr>
              <a:t>Doping &amp; Ion Implantation</a:t>
            </a:r>
            <a:endParaRPr lang="en-US" sz="1600" dirty="0"/>
          </a:p>
        </p:txBody>
      </p:sp>
      <p:sp>
        <p:nvSpPr>
          <p:cNvPr id="8" name="Shape 6"/>
          <p:cNvSpPr/>
          <p:nvPr/>
        </p:nvSpPr>
        <p:spPr>
          <a:xfrm>
            <a:off x="457200" y="1874520"/>
            <a:ext cx="3931920" cy="1463040"/>
          </a:xfrm>
          <a:prstGeom prst="rect">
            <a:avLst/>
          </a:prstGeom>
          <a:solidFill>
            <a:srgbClr val="132040"/>
          </a:solidFill>
          <a:ln w="12700">
            <a:solidFill>
              <a:srgbClr val="AD1457"/>
            </a:solidFill>
            <a:prstDash val="solid"/>
          </a:ln>
        </p:spPr>
      </p:sp>
      <p:sp>
        <p:nvSpPr>
          <p:cNvPr id="9" name="Text 7"/>
          <p:cNvSpPr/>
          <p:nvPr/>
        </p:nvSpPr>
        <p:spPr>
          <a:xfrm>
            <a:off x="457200" y="1874520"/>
            <a:ext cx="3931920" cy="1463040"/>
          </a:xfrm>
          <a:prstGeom prst="rect">
            <a:avLst/>
          </a:prstGeom>
          <a:noFill/>
          <a:ln/>
        </p:spPr>
        <p:txBody>
          <a:bodyPr wrap="square" lIns="0" tIns="0" rIns="0" bIns="0" rtlCol="0" anchor="ctr"/>
          <a:lstStyle/>
          <a:p>
            <a:pPr marL="0" indent="0" algn="ctr">
              <a:buNone/>
            </a:pPr>
            <a:r>
              <a:rPr lang="en-US" sz="1000" i="1" dirty="0">
                <a:solidFill>
                  <a:srgbClr val="B0BEC5"/>
                </a:solidFill>
                <a:latin typeface="Calibri" pitchFamily="34" charset="0"/>
                <a:ea typeface="Calibri" pitchFamily="34" charset="-122"/>
                <a:cs typeface="Calibri" pitchFamily="34" charset="-120"/>
              </a:rPr>
              <a:t>📷 [Animation: Ion beam firing at silicon wafer — P-type and N-type regions color-coded in blue/red, forming transistor wells]</a:t>
            </a:r>
            <a:endParaRPr lang="en-US" sz="1000" dirty="0"/>
          </a:p>
        </p:txBody>
      </p:sp>
      <p:sp>
        <p:nvSpPr>
          <p:cNvPr id="10" name="Text 8"/>
          <p:cNvSpPr/>
          <p:nvPr/>
        </p:nvSpPr>
        <p:spPr>
          <a:xfrm>
            <a:off x="457200" y="3429000"/>
            <a:ext cx="3931920" cy="502920"/>
          </a:xfrm>
          <a:prstGeom prst="rect">
            <a:avLst/>
          </a:prstGeom>
          <a:noFill/>
          <a:ln/>
        </p:spPr>
        <p:txBody>
          <a:bodyPr wrap="square" lIns="0" tIns="0" rIns="0" bIns="0" rtlCol="0" anchor="ctr"/>
          <a:lstStyle/>
          <a:p>
            <a:pPr marL="0" indent="0">
              <a:buNone/>
            </a:pPr>
            <a:r>
              <a:rPr lang="en-US" sz="1200" dirty="0">
                <a:solidFill>
                  <a:srgbClr val="B0BEC5"/>
                </a:solidFill>
                <a:latin typeface="Calibri" pitchFamily="34" charset="0"/>
                <a:ea typeface="Calibri" pitchFamily="34" charset="-122"/>
                <a:cs typeface="Calibri" pitchFamily="34" charset="-120"/>
              </a:rPr>
              <a:t>Adds boron or phosphorus to alter silicon's electrical properties.</a:t>
            </a:r>
            <a:endParaRPr lang="en-US" sz="1200" dirty="0"/>
          </a:p>
        </p:txBody>
      </p:sp>
      <p:sp>
        <p:nvSpPr>
          <p:cNvPr id="11" name="Text 9"/>
          <p:cNvSpPr/>
          <p:nvPr/>
        </p:nvSpPr>
        <p:spPr>
          <a:xfrm>
            <a:off x="457200" y="3931920"/>
            <a:ext cx="3931920" cy="914400"/>
          </a:xfrm>
          <a:prstGeom prst="rect">
            <a:avLst/>
          </a:prstGeom>
          <a:noFill/>
          <a:ln/>
        </p:spPr>
        <p:txBody>
          <a:bodyPr wrap="square" lIns="0" tIns="0" rIns="0" bIns="0" rtlCol="0" anchor="ctr"/>
          <a:lstStyle/>
          <a:p>
            <a:pPr marL="0" indent="0">
              <a:buNone/>
            </a:pPr>
            <a:r>
              <a:rPr lang="en-US" sz="1100" b="1" dirty="0">
                <a:solidFill>
                  <a:srgbClr val="F48FB1"/>
                </a:solidFill>
                <a:latin typeface="Calibri" pitchFamily="34" charset="0"/>
                <a:ea typeface="Calibri" pitchFamily="34" charset="-122"/>
                <a:cs typeface="Calibri" pitchFamily="34" charset="-120"/>
              </a:rPr>
              <a:t>P-type doping</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Creates positive charge carriers (holes)
</a:t>
            </a:r>
            <a:r>
              <a:rPr lang="en-US" sz="1100" b="1" dirty="0">
                <a:solidFill>
                  <a:srgbClr val="80DEEA"/>
                </a:solidFill>
                <a:latin typeface="Calibri" pitchFamily="34" charset="0"/>
                <a:ea typeface="Calibri" pitchFamily="34" charset="-122"/>
                <a:cs typeface="Calibri" pitchFamily="34" charset="-120"/>
              </a:rPr>
              <a:t>N-type doping</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Adds extra electrons (negative charge carriers)</a:t>
            </a:r>
            <a:endParaRPr lang="en-US" sz="1100" dirty="0"/>
          </a:p>
        </p:txBody>
      </p:sp>
      <p:sp>
        <p:nvSpPr>
          <p:cNvPr id="12" name="Shape 10"/>
          <p:cNvSpPr/>
          <p:nvPr/>
        </p:nvSpPr>
        <p:spPr>
          <a:xfrm>
            <a:off x="4572000" y="1188720"/>
            <a:ext cx="0" cy="3657600"/>
          </a:xfrm>
          <a:prstGeom prst="line">
            <a:avLst/>
          </a:prstGeom>
          <a:noFill/>
          <a:ln w="12700">
            <a:solidFill>
              <a:srgbClr val="607D8B"/>
            </a:solidFill>
            <a:prstDash val="sysDash"/>
          </a:ln>
        </p:spPr>
      </p:sp>
      <p:sp>
        <p:nvSpPr>
          <p:cNvPr id="13" name="Shape 11"/>
          <p:cNvSpPr/>
          <p:nvPr/>
        </p:nvSpPr>
        <p:spPr>
          <a:xfrm>
            <a:off x="4754880" y="1234440"/>
            <a:ext cx="530352" cy="530352"/>
          </a:xfrm>
          <a:prstGeom prst="ellipse">
            <a:avLst/>
          </a:prstGeom>
          <a:solidFill>
            <a:srgbClr val="00796B"/>
          </a:solidFill>
          <a:ln w="12700">
            <a:solidFill>
              <a:srgbClr val="00796B"/>
            </a:solidFill>
            <a:prstDash val="solid"/>
          </a:ln>
        </p:spPr>
      </p:sp>
      <p:sp>
        <p:nvSpPr>
          <p:cNvPr id="14" name="Text 12"/>
          <p:cNvSpPr/>
          <p:nvPr/>
        </p:nvSpPr>
        <p:spPr>
          <a:xfrm>
            <a:off x="4754880"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06</a:t>
            </a:r>
            <a:endParaRPr lang="en-US" sz="1400" dirty="0"/>
          </a:p>
        </p:txBody>
      </p:sp>
      <p:sp>
        <p:nvSpPr>
          <p:cNvPr id="15" name="Text 13"/>
          <p:cNvSpPr/>
          <p:nvPr/>
        </p:nvSpPr>
        <p:spPr>
          <a:xfrm>
            <a:off x="5376672" y="1280160"/>
            <a:ext cx="3383280" cy="457200"/>
          </a:xfrm>
          <a:prstGeom prst="rect">
            <a:avLst/>
          </a:prstGeom>
          <a:noFill/>
          <a:ln/>
        </p:spPr>
        <p:txBody>
          <a:bodyPr wrap="square" lIns="0" tIns="0" rIns="0" bIns="0" rtlCol="0" anchor="ctr"/>
          <a:lstStyle/>
          <a:p>
            <a:pPr marL="0" indent="0">
              <a:buNone/>
            </a:pPr>
            <a:r>
              <a:rPr lang="en-US" sz="1600" b="1" dirty="0">
                <a:solidFill>
                  <a:srgbClr val="00BCD4"/>
                </a:solidFill>
                <a:latin typeface="Trebuchet MS" pitchFamily="34" charset="0"/>
                <a:ea typeface="Trebuchet MS" pitchFamily="34" charset="-122"/>
                <a:cs typeface="Trebuchet MS" pitchFamily="34" charset="-120"/>
              </a:rPr>
              <a:t>Deposition &amp; Layering</a:t>
            </a:r>
            <a:endParaRPr lang="en-US" sz="1600" dirty="0"/>
          </a:p>
        </p:txBody>
      </p:sp>
      <p:sp>
        <p:nvSpPr>
          <p:cNvPr id="16" name="Shape 14"/>
          <p:cNvSpPr/>
          <p:nvPr/>
        </p:nvSpPr>
        <p:spPr>
          <a:xfrm>
            <a:off x="4754880" y="1874520"/>
            <a:ext cx="3931920" cy="1463040"/>
          </a:xfrm>
          <a:prstGeom prst="rect">
            <a:avLst/>
          </a:prstGeom>
          <a:solidFill>
            <a:srgbClr val="132040"/>
          </a:solidFill>
          <a:ln w="12700">
            <a:solidFill>
              <a:srgbClr val="00796B"/>
            </a:solidFill>
            <a:prstDash val="solid"/>
          </a:ln>
        </p:spPr>
      </p:sp>
      <p:sp>
        <p:nvSpPr>
          <p:cNvPr id="17" name="Text 15"/>
          <p:cNvSpPr/>
          <p:nvPr/>
        </p:nvSpPr>
        <p:spPr>
          <a:xfrm>
            <a:off x="4754880" y="1874520"/>
            <a:ext cx="3931920" cy="1463040"/>
          </a:xfrm>
          <a:prstGeom prst="rect">
            <a:avLst/>
          </a:prstGeom>
          <a:noFill/>
          <a:ln/>
        </p:spPr>
        <p:txBody>
          <a:bodyPr wrap="square" lIns="0" tIns="0" rIns="0" bIns="0" rtlCol="0" anchor="ctr"/>
          <a:lstStyle/>
          <a:p>
            <a:pPr marL="0" indent="0" algn="ctr">
              <a:buNone/>
            </a:pPr>
            <a:r>
              <a:rPr lang="en-US" sz="1000" i="1" dirty="0">
                <a:solidFill>
                  <a:srgbClr val="B0BEC5"/>
                </a:solidFill>
                <a:latin typeface="Calibri" pitchFamily="34" charset="0"/>
                <a:ea typeface="Calibri" pitchFamily="34" charset="-122"/>
                <a:cs typeface="Calibri" pitchFamily="34" charset="-120"/>
              </a:rPr>
              <a:t>📷 [Cross-section animation: thin metallic layers being deposited one-by-one on wafer — CVD and PVD labeled, like adding icing layers to a cake]</a:t>
            </a:r>
            <a:endParaRPr lang="en-US" sz="1000" dirty="0"/>
          </a:p>
        </p:txBody>
      </p:sp>
      <p:sp>
        <p:nvSpPr>
          <p:cNvPr id="18" name="Text 16"/>
          <p:cNvSpPr/>
          <p:nvPr/>
        </p:nvSpPr>
        <p:spPr>
          <a:xfrm>
            <a:off x="4754880" y="3429000"/>
            <a:ext cx="3931920" cy="502920"/>
          </a:xfrm>
          <a:prstGeom prst="rect">
            <a:avLst/>
          </a:prstGeom>
          <a:noFill/>
          <a:ln/>
        </p:spPr>
        <p:txBody>
          <a:bodyPr wrap="square" lIns="0" tIns="0" rIns="0" bIns="0" rtlCol="0" anchor="ctr"/>
          <a:lstStyle/>
          <a:p>
            <a:pPr marL="0" indent="0">
              <a:buNone/>
            </a:pPr>
            <a:r>
              <a:rPr lang="en-US" sz="1200" dirty="0">
                <a:solidFill>
                  <a:srgbClr val="B0BEC5"/>
                </a:solidFill>
                <a:latin typeface="Calibri" pitchFamily="34" charset="0"/>
                <a:ea typeface="Calibri" pitchFamily="34" charset="-122"/>
                <a:cs typeface="Calibri" pitchFamily="34" charset="-120"/>
              </a:rPr>
              <a:t>Builds multilayer chip structure — metal, oxide, or insulator layers.</a:t>
            </a:r>
            <a:endParaRPr lang="en-US" sz="1200" dirty="0"/>
          </a:p>
        </p:txBody>
      </p:sp>
      <p:sp>
        <p:nvSpPr>
          <p:cNvPr id="19" name="Text 17"/>
          <p:cNvSpPr/>
          <p:nvPr/>
        </p:nvSpPr>
        <p:spPr>
          <a:xfrm>
            <a:off x="4754880" y="3931920"/>
            <a:ext cx="3931920" cy="914400"/>
          </a:xfrm>
          <a:prstGeom prst="rect">
            <a:avLst/>
          </a:prstGeom>
          <a:noFill/>
          <a:ln/>
        </p:spPr>
        <p:txBody>
          <a:bodyPr wrap="square" lIns="0" tIns="0" rIns="0" bIns="0" rtlCol="0" anchor="ctr"/>
          <a:lstStyle/>
          <a:p>
            <a:pPr marL="0" indent="0">
              <a:buNone/>
            </a:pPr>
            <a:r>
              <a:rPr lang="en-US" sz="1100" b="1" dirty="0">
                <a:solidFill>
                  <a:srgbClr val="00BCD4"/>
                </a:solidFill>
                <a:latin typeface="Calibri" pitchFamily="34" charset="0"/>
                <a:ea typeface="Calibri" pitchFamily="34" charset="-122"/>
                <a:cs typeface="Calibri" pitchFamily="34" charset="-120"/>
              </a:rPr>
              <a:t>CVD (Chemical Vapor Deposition)</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Gas reacts on wafer → thin film
</a:t>
            </a:r>
            <a:r>
              <a:rPr lang="en-US" sz="1100" b="1" dirty="0">
                <a:solidFill>
                  <a:srgbClr val="00BCD4"/>
                </a:solidFill>
                <a:latin typeface="Calibri" pitchFamily="34" charset="0"/>
                <a:ea typeface="Calibri" pitchFamily="34" charset="-122"/>
                <a:cs typeface="Calibri" pitchFamily="34" charset="-120"/>
              </a:rPr>
              <a:t>PVD (Physical Vapor Deposition)</a:t>
            </a:r>
            <a:endParaRPr lang="en-US" sz="1100" dirty="0"/>
          </a:p>
          <a:p>
            <a:pPr marL="0" indent="0">
              <a:buNone/>
            </a:pPr>
            <a:r>
              <a:rPr lang="en-US" sz="1100" dirty="0">
                <a:solidFill>
                  <a:srgbClr val="B0BEC5"/>
                </a:solidFill>
                <a:latin typeface="Calibri" pitchFamily="34" charset="0"/>
                <a:ea typeface="Calibri" pitchFamily="34" charset="-122"/>
                <a:cs typeface="Calibri" pitchFamily="34" charset="-120"/>
              </a:rPr>
              <a:t>Material sputtered onto wafer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1D3A"/>
          </a:solidFill>
          <a:ln w="12700">
            <a:solidFill>
              <a:srgbClr val="0B1D3A"/>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8 of 12</a:t>
            </a:r>
            <a:endParaRPr lang="en-US" sz="1000" dirty="0"/>
          </a:p>
        </p:txBody>
      </p:sp>
      <p:sp>
        <p:nvSpPr>
          <p:cNvPr id="4" name="Text 2"/>
          <p:cNvSpPr/>
          <p:nvPr/>
        </p:nvSpPr>
        <p:spPr>
          <a:xfrm>
            <a:off x="457200" y="594360"/>
            <a:ext cx="8229600" cy="530352"/>
          </a:xfrm>
          <a:prstGeom prst="rect">
            <a:avLst/>
          </a:prstGeom>
          <a:noFill/>
          <a:ln/>
        </p:spPr>
        <p:txBody>
          <a:bodyPr wrap="square" lIns="0" tIns="0" rIns="0" bIns="0" rtlCol="0" anchor="ctr"/>
          <a:lstStyle/>
          <a:p>
            <a:pPr marL="0" indent="0">
              <a:buNone/>
            </a:pPr>
            <a:r>
              <a:rPr lang="en-US" sz="2200" b="1" dirty="0">
                <a:solidFill>
                  <a:srgbClr val="0B1D3A"/>
                </a:solidFill>
                <a:latin typeface="Trebuchet MS" pitchFamily="34" charset="0"/>
                <a:ea typeface="Trebuchet MS" pitchFamily="34" charset="-122"/>
                <a:cs typeface="Trebuchet MS" pitchFamily="34" charset="-120"/>
              </a:rPr>
              <a:t>Testing, Inspection &amp; Packaging</a:t>
            </a:r>
            <a:endParaRPr lang="en-US" sz="2200" dirty="0"/>
          </a:p>
        </p:txBody>
      </p:sp>
      <p:sp>
        <p:nvSpPr>
          <p:cNvPr id="5" name="Shape 3"/>
          <p:cNvSpPr/>
          <p:nvPr/>
        </p:nvSpPr>
        <p:spPr>
          <a:xfrm>
            <a:off x="457200" y="1234440"/>
            <a:ext cx="530352" cy="530352"/>
          </a:xfrm>
          <a:prstGeom prst="ellipse">
            <a:avLst/>
          </a:prstGeom>
          <a:solidFill>
            <a:srgbClr val="1565C0"/>
          </a:solidFill>
          <a:ln w="12700">
            <a:solidFill>
              <a:srgbClr val="1565C0"/>
            </a:solidFill>
            <a:prstDash val="solid"/>
          </a:ln>
        </p:spPr>
      </p:sp>
      <p:sp>
        <p:nvSpPr>
          <p:cNvPr id="6" name="Text 4"/>
          <p:cNvSpPr/>
          <p:nvPr/>
        </p:nvSpPr>
        <p:spPr>
          <a:xfrm>
            <a:off x="457200"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07</a:t>
            </a:r>
            <a:endParaRPr lang="en-US" sz="1400" dirty="0"/>
          </a:p>
        </p:txBody>
      </p:sp>
      <p:sp>
        <p:nvSpPr>
          <p:cNvPr id="7" name="Text 5"/>
          <p:cNvSpPr/>
          <p:nvPr/>
        </p:nvSpPr>
        <p:spPr>
          <a:xfrm>
            <a:off x="1097280" y="1280160"/>
            <a:ext cx="3474720" cy="457200"/>
          </a:xfrm>
          <a:prstGeom prst="rect">
            <a:avLst/>
          </a:prstGeom>
          <a:noFill/>
          <a:ln/>
        </p:spPr>
        <p:txBody>
          <a:bodyPr wrap="square" lIns="0" tIns="0" rIns="0" bIns="0" rtlCol="0" anchor="ctr"/>
          <a:lstStyle/>
          <a:p>
            <a:pPr marL="0" indent="0">
              <a:buNone/>
            </a:pPr>
            <a:r>
              <a:rPr lang="en-US" sz="1600" b="1" dirty="0">
                <a:solidFill>
                  <a:srgbClr val="1565C0"/>
                </a:solidFill>
                <a:latin typeface="Trebuchet MS" pitchFamily="34" charset="0"/>
                <a:ea typeface="Trebuchet MS" pitchFamily="34" charset="-122"/>
                <a:cs typeface="Trebuchet MS" pitchFamily="34" charset="-120"/>
              </a:rPr>
              <a:t>Testing &amp; Inspection</a:t>
            </a:r>
            <a:endParaRPr lang="en-US" sz="1600" dirty="0"/>
          </a:p>
        </p:txBody>
      </p:sp>
      <p:sp>
        <p:nvSpPr>
          <p:cNvPr id="8" name="Shape 6"/>
          <p:cNvSpPr/>
          <p:nvPr/>
        </p:nvSpPr>
        <p:spPr>
          <a:xfrm>
            <a:off x="457200" y="1874520"/>
            <a:ext cx="3931920" cy="1417320"/>
          </a:xfrm>
          <a:prstGeom prst="rect">
            <a:avLst/>
          </a:prstGeom>
          <a:solidFill>
            <a:srgbClr val="EBF5FB"/>
          </a:solidFill>
          <a:ln w="12700">
            <a:solidFill>
              <a:srgbClr val="1565C0"/>
            </a:solidFill>
            <a:prstDash val="solid"/>
          </a:ln>
        </p:spPr>
      </p:sp>
      <p:sp>
        <p:nvSpPr>
          <p:cNvPr id="9" name="Text 7"/>
          <p:cNvSpPr/>
          <p:nvPr/>
        </p:nvSpPr>
        <p:spPr>
          <a:xfrm>
            <a:off x="457200" y="1874520"/>
            <a:ext cx="3931920" cy="1417320"/>
          </a:xfrm>
          <a:prstGeom prst="rect">
            <a:avLst/>
          </a:prstGeom>
          <a:noFill/>
          <a:ln/>
        </p:spPr>
        <p:txBody>
          <a:bodyPr wrap="square" lIns="0" tIns="0" rIns="0" bIns="0" rtlCol="0" anchor="ctr"/>
          <a:lstStyle/>
          <a:p>
            <a:pPr marL="0" indent="0" algn="ctr">
              <a:buNone/>
            </a:pPr>
            <a:r>
              <a:rPr lang="en-US" sz="1000" i="1" dirty="0">
                <a:solidFill>
                  <a:srgbClr val="607D8B"/>
                </a:solidFill>
                <a:latin typeface="Calibri" pitchFamily="34" charset="0"/>
                <a:ea typeface="Calibri" pitchFamily="34" charset="-122"/>
                <a:cs typeface="Calibri" pitchFamily="34" charset="-120"/>
              </a:rPr>
              <a:t>📷 [Animation: probe needles testing each chip on wafer, pass = green glow, fail = red X mark. Then electron microscope scanning wafer surface]</a:t>
            </a:r>
            <a:endParaRPr lang="en-US" sz="1000" dirty="0"/>
          </a:p>
        </p:txBody>
      </p:sp>
      <p:sp>
        <p:nvSpPr>
          <p:cNvPr id="10" name="Text 8"/>
          <p:cNvSpPr/>
          <p:nvPr/>
        </p:nvSpPr>
        <p:spPr>
          <a:xfrm>
            <a:off x="457200" y="3401568"/>
            <a:ext cx="3931920" cy="1371600"/>
          </a:xfrm>
          <a:prstGeom prst="rect">
            <a:avLst/>
          </a:prstGeom>
          <a:noFill/>
          <a:ln/>
        </p:spPr>
        <p:txBody>
          <a:bodyPr wrap="square" lIns="0" tIns="0" rIns="0" bIns="0" rtlCol="0" anchor="t"/>
          <a:lstStyle/>
          <a:p>
            <a:pPr marL="0" indent="0">
              <a:buNone/>
            </a:pPr>
            <a:r>
              <a:rPr lang="en-US" sz="1100" b="1" dirty="0">
                <a:solidFill>
                  <a:srgbClr val="0B1D3A"/>
                </a:solidFill>
                <a:latin typeface="Calibri" pitchFamily="34" charset="0"/>
                <a:ea typeface="Calibri" pitchFamily="34" charset="-122"/>
                <a:cs typeface="Calibri" pitchFamily="34" charset="-120"/>
              </a:rPr>
              <a:t>Wafer-Level Testing
</a:t>
            </a:r>
            <a:r>
              <a:rPr lang="en-US" sz="1100" dirty="0">
                <a:solidFill>
                  <a:srgbClr val="0B1D3A"/>
                </a:solidFill>
                <a:latin typeface="Calibri" pitchFamily="34" charset="0"/>
                <a:ea typeface="Calibri" pitchFamily="34" charset="-122"/>
                <a:cs typeface="Calibri" pitchFamily="34" charset="-120"/>
              </a:rPr>
              <a:t>Probe needles test each chip; defective chips are marked and discarded.
</a:t>
            </a:r>
            <a:r>
              <a:rPr lang="en-US" sz="1100" b="1" dirty="0">
                <a:solidFill>
                  <a:srgbClr val="0B1D3A"/>
                </a:solidFill>
                <a:latin typeface="Calibri" pitchFamily="34" charset="0"/>
                <a:ea typeface="Calibri" pitchFamily="34" charset="-122"/>
                <a:cs typeface="Calibri" pitchFamily="34" charset="-120"/>
              </a:rPr>
              <a:t>Automated Optical Inspection (AOI)
</a:t>
            </a:r>
            <a:r>
              <a:rPr lang="en-US" sz="1100" dirty="0">
                <a:solidFill>
                  <a:srgbClr val="0B1D3A"/>
                </a:solidFill>
                <a:latin typeface="Calibri" pitchFamily="34" charset="0"/>
                <a:ea typeface="Calibri" pitchFamily="34" charset="-122"/>
                <a:cs typeface="Calibri" pitchFamily="34" charset="-120"/>
              </a:rPr>
              <a:t>Cameras scan for defects invisible to the human eye.</a:t>
            </a:r>
            <a:endParaRPr lang="en-US" sz="1100" dirty="0"/>
          </a:p>
        </p:txBody>
      </p:sp>
      <p:sp>
        <p:nvSpPr>
          <p:cNvPr id="11" name="Shape 9"/>
          <p:cNvSpPr/>
          <p:nvPr/>
        </p:nvSpPr>
        <p:spPr>
          <a:xfrm>
            <a:off x="4572000" y="1188720"/>
            <a:ext cx="0" cy="3657600"/>
          </a:xfrm>
          <a:prstGeom prst="line">
            <a:avLst/>
          </a:prstGeom>
          <a:noFill/>
          <a:ln w="12700">
            <a:solidFill>
              <a:srgbClr val="B0BEC5"/>
            </a:solidFill>
            <a:prstDash val="sysDash"/>
          </a:ln>
        </p:spPr>
      </p:sp>
      <p:sp>
        <p:nvSpPr>
          <p:cNvPr id="12" name="Shape 10"/>
          <p:cNvSpPr/>
          <p:nvPr/>
        </p:nvSpPr>
        <p:spPr>
          <a:xfrm>
            <a:off x="4754880" y="1234440"/>
            <a:ext cx="530352" cy="530352"/>
          </a:xfrm>
          <a:prstGeom prst="ellipse">
            <a:avLst/>
          </a:prstGeom>
          <a:solidFill>
            <a:srgbClr val="F57F17"/>
          </a:solidFill>
          <a:ln w="12700">
            <a:solidFill>
              <a:srgbClr val="F57F17"/>
            </a:solidFill>
            <a:prstDash val="solid"/>
          </a:ln>
        </p:spPr>
      </p:sp>
      <p:sp>
        <p:nvSpPr>
          <p:cNvPr id="13" name="Text 11"/>
          <p:cNvSpPr/>
          <p:nvPr/>
        </p:nvSpPr>
        <p:spPr>
          <a:xfrm>
            <a:off x="4754880" y="1234440"/>
            <a:ext cx="530352"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08</a:t>
            </a:r>
            <a:endParaRPr lang="en-US" sz="1400" dirty="0"/>
          </a:p>
        </p:txBody>
      </p:sp>
      <p:sp>
        <p:nvSpPr>
          <p:cNvPr id="14" name="Text 12"/>
          <p:cNvSpPr/>
          <p:nvPr/>
        </p:nvSpPr>
        <p:spPr>
          <a:xfrm>
            <a:off x="5376672" y="1280160"/>
            <a:ext cx="3383280" cy="457200"/>
          </a:xfrm>
          <a:prstGeom prst="rect">
            <a:avLst/>
          </a:prstGeom>
          <a:noFill/>
          <a:ln/>
        </p:spPr>
        <p:txBody>
          <a:bodyPr wrap="square" lIns="0" tIns="0" rIns="0" bIns="0" rtlCol="0" anchor="ctr"/>
          <a:lstStyle/>
          <a:p>
            <a:pPr marL="0" indent="0">
              <a:buNone/>
            </a:pPr>
            <a:r>
              <a:rPr lang="en-US" sz="1600" b="1" dirty="0">
                <a:solidFill>
                  <a:srgbClr val="F57F17"/>
                </a:solidFill>
                <a:latin typeface="Trebuchet MS" pitchFamily="34" charset="0"/>
                <a:ea typeface="Trebuchet MS" pitchFamily="34" charset="-122"/>
                <a:cs typeface="Trebuchet MS" pitchFamily="34" charset="-120"/>
              </a:rPr>
              <a:t>Packaging &amp; Shipping</a:t>
            </a:r>
            <a:endParaRPr lang="en-US" sz="1600" dirty="0"/>
          </a:p>
        </p:txBody>
      </p:sp>
      <p:sp>
        <p:nvSpPr>
          <p:cNvPr id="15" name="Shape 13"/>
          <p:cNvSpPr/>
          <p:nvPr/>
        </p:nvSpPr>
        <p:spPr>
          <a:xfrm>
            <a:off x="4754880" y="1874520"/>
            <a:ext cx="3931920" cy="1417320"/>
          </a:xfrm>
          <a:prstGeom prst="rect">
            <a:avLst/>
          </a:prstGeom>
          <a:solidFill>
            <a:srgbClr val="FFF9E6"/>
          </a:solidFill>
          <a:ln w="12700">
            <a:solidFill>
              <a:srgbClr val="F57F17"/>
            </a:solidFill>
            <a:prstDash val="solid"/>
          </a:ln>
        </p:spPr>
      </p:sp>
      <p:sp>
        <p:nvSpPr>
          <p:cNvPr id="16" name="Text 14"/>
          <p:cNvSpPr/>
          <p:nvPr/>
        </p:nvSpPr>
        <p:spPr>
          <a:xfrm>
            <a:off x="4754880" y="1874520"/>
            <a:ext cx="3931920" cy="1417320"/>
          </a:xfrm>
          <a:prstGeom prst="rect">
            <a:avLst/>
          </a:prstGeom>
          <a:noFill/>
          <a:ln/>
        </p:spPr>
        <p:txBody>
          <a:bodyPr wrap="square" lIns="0" tIns="0" rIns="0" bIns="0" rtlCol="0" anchor="ctr"/>
          <a:lstStyle/>
          <a:p>
            <a:pPr marL="0" indent="0" algn="ctr">
              <a:buNone/>
            </a:pPr>
            <a:r>
              <a:rPr lang="en-US" sz="1000" i="1" dirty="0">
                <a:solidFill>
                  <a:srgbClr val="607D8B"/>
                </a:solidFill>
                <a:latin typeface="Calibri" pitchFamily="34" charset="0"/>
                <a:ea typeface="Calibri" pitchFamily="34" charset="-122"/>
                <a:cs typeface="Calibri" pitchFamily="34" charset="-120"/>
              </a:rPr>
              <a:t>📷 [Animation: wafer diced into individual chips → chip bonded to substrate → encapsulated in epoxy → finished chip on circuit board]</a:t>
            </a:r>
            <a:endParaRPr lang="en-US" sz="1000" dirty="0"/>
          </a:p>
        </p:txBody>
      </p:sp>
      <p:sp>
        <p:nvSpPr>
          <p:cNvPr id="17" name="Text 15"/>
          <p:cNvSpPr/>
          <p:nvPr/>
        </p:nvSpPr>
        <p:spPr>
          <a:xfrm>
            <a:off x="4754880" y="3401568"/>
            <a:ext cx="3931920" cy="1371600"/>
          </a:xfrm>
          <a:prstGeom prst="rect">
            <a:avLst/>
          </a:prstGeom>
          <a:noFill/>
          <a:ln/>
        </p:spPr>
        <p:txBody>
          <a:bodyPr wrap="square" lIns="0" tIns="0" rIns="0" bIns="0" rtlCol="0" anchor="t"/>
          <a:lstStyle/>
          <a:p>
            <a:pPr marL="0" indent="0">
              <a:buNone/>
            </a:pPr>
            <a:r>
              <a:rPr lang="en-US" sz="1100" b="1" dirty="0">
                <a:solidFill>
                  <a:srgbClr val="0B1D3A"/>
                </a:solidFill>
                <a:latin typeface="Calibri" pitchFamily="34" charset="0"/>
                <a:ea typeface="Calibri" pitchFamily="34" charset="-122"/>
                <a:cs typeface="Calibri" pitchFamily="34" charset="-120"/>
              </a:rPr>
              <a:t>Die Singulation
</a:t>
            </a:r>
            <a:r>
              <a:rPr lang="en-US" sz="1100" dirty="0">
                <a:solidFill>
                  <a:srgbClr val="0B1D3A"/>
                </a:solidFill>
                <a:latin typeface="Calibri" pitchFamily="34" charset="0"/>
                <a:ea typeface="Calibri" pitchFamily="34" charset="-122"/>
                <a:cs typeface="Calibri" pitchFamily="34" charset="-120"/>
              </a:rPr>
              <a:t>Wafer cut into individual chips (dies).
</a:t>
            </a:r>
            <a:r>
              <a:rPr lang="en-US" sz="1100" b="1" dirty="0">
                <a:solidFill>
                  <a:srgbClr val="0B1D3A"/>
                </a:solidFill>
                <a:latin typeface="Calibri" pitchFamily="34" charset="0"/>
                <a:ea typeface="Calibri" pitchFamily="34" charset="-122"/>
                <a:cs typeface="Calibri" pitchFamily="34" charset="-120"/>
              </a:rPr>
              <a:t>Wire Bonding &amp; Encapsulation
</a:t>
            </a:r>
            <a:r>
              <a:rPr lang="en-US" sz="1100" dirty="0">
                <a:solidFill>
                  <a:srgbClr val="0B1D3A"/>
                </a:solidFill>
                <a:latin typeface="Calibri" pitchFamily="34" charset="0"/>
                <a:ea typeface="Calibri" pitchFamily="34" charset="-122"/>
                <a:cs typeface="Calibri" pitchFamily="34" charset="-120"/>
              </a:rPr>
              <a:t>Chips bonded with gold wires; sealed in protective epoxy casing.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A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0520"/>
          </a:solidFill>
          <a:ln w="12700">
            <a:solidFill>
              <a:srgbClr val="0D0520"/>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9 of 12</a:t>
            </a:r>
            <a:endParaRPr lang="en-US" sz="1000" dirty="0"/>
          </a:p>
        </p:txBody>
      </p:sp>
      <p:sp>
        <p:nvSpPr>
          <p:cNvPr id="4" name="Shape 2"/>
          <p:cNvSpPr/>
          <p:nvPr/>
        </p:nvSpPr>
        <p:spPr>
          <a:xfrm>
            <a:off x="457200" y="640080"/>
            <a:ext cx="3200400" cy="384048"/>
          </a:xfrm>
          <a:prstGeom prst="roundRect">
            <a:avLst>
              <a:gd name="adj" fmla="val 19048"/>
            </a:avLst>
          </a:prstGeom>
          <a:solidFill>
            <a:srgbClr val="7B1FA2"/>
          </a:solidFill>
          <a:ln w="12700">
            <a:solidFill>
              <a:srgbClr val="7B1FA2"/>
            </a:solidFill>
            <a:prstDash val="solid"/>
          </a:ln>
        </p:spPr>
      </p:sp>
      <p:sp>
        <p:nvSpPr>
          <p:cNvPr id="5" name="Text 3"/>
          <p:cNvSpPr/>
          <p:nvPr/>
        </p:nvSpPr>
        <p:spPr>
          <a:xfrm>
            <a:off x="457200" y="640080"/>
            <a:ext cx="32004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INTERACTIVE SCENARIO</a:t>
            </a:r>
            <a:endParaRPr lang="en-US" sz="1100" dirty="0"/>
          </a:p>
        </p:txBody>
      </p:sp>
      <p:sp>
        <p:nvSpPr>
          <p:cNvPr id="6" name="Text 4"/>
          <p:cNvSpPr/>
          <p:nvPr/>
        </p:nvSpPr>
        <p:spPr>
          <a:xfrm>
            <a:off x="457200" y="1097280"/>
            <a:ext cx="8229600" cy="530352"/>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Apply What You Know!</a:t>
            </a:r>
            <a:endParaRPr lang="en-US" sz="2400" dirty="0"/>
          </a:p>
        </p:txBody>
      </p:sp>
      <p:sp>
        <p:nvSpPr>
          <p:cNvPr id="7" name="Shape 5"/>
          <p:cNvSpPr/>
          <p:nvPr/>
        </p:nvSpPr>
        <p:spPr>
          <a:xfrm>
            <a:off x="457200" y="1719072"/>
            <a:ext cx="8229600" cy="1325880"/>
          </a:xfrm>
          <a:prstGeom prst="rect">
            <a:avLst/>
          </a:prstGeom>
          <a:solidFill>
            <a:srgbClr val="28134A"/>
          </a:solidFill>
          <a:ln w="25400">
            <a:solidFill>
              <a:srgbClr val="7B1FA2"/>
            </a:solidFill>
            <a:prstDash val="solid"/>
          </a:ln>
          <a:effectLst>
            <a:outerShdw blurRad="101600" dist="38100" dir="8100000" algn="bl" rotWithShape="0">
              <a:srgbClr val="000000">
                <a:alpha val="18000"/>
              </a:srgbClr>
            </a:outerShdw>
          </a:effectLst>
        </p:spPr>
      </p:sp>
      <p:sp>
        <p:nvSpPr>
          <p:cNvPr id="8" name="Text 6"/>
          <p:cNvSpPr/>
          <p:nvPr/>
        </p:nvSpPr>
        <p:spPr>
          <a:xfrm>
            <a:off x="640080" y="1764792"/>
            <a:ext cx="1828800" cy="347472"/>
          </a:xfrm>
          <a:prstGeom prst="rect">
            <a:avLst/>
          </a:prstGeom>
          <a:noFill/>
          <a:ln/>
        </p:spPr>
        <p:txBody>
          <a:bodyPr wrap="square" lIns="0" tIns="0" rIns="0" bIns="0" rtlCol="0" anchor="ctr"/>
          <a:lstStyle/>
          <a:p>
            <a:pPr marL="0" indent="0">
              <a:buNone/>
            </a:pPr>
            <a:r>
              <a:rPr lang="en-US" sz="1200" b="1" dirty="0">
                <a:solidFill>
                  <a:srgbClr val="CE93D8"/>
                </a:solidFill>
                <a:latin typeface="Trebuchet MS" pitchFamily="34" charset="0"/>
                <a:ea typeface="Trebuchet MS" pitchFamily="34" charset="-122"/>
                <a:cs typeface="Trebuchet MS" pitchFamily="34" charset="-120"/>
              </a:rPr>
              <a:t>📋  SCENARIO</a:t>
            </a:r>
            <a:endParaRPr lang="en-US" sz="1200" dirty="0"/>
          </a:p>
        </p:txBody>
      </p:sp>
      <p:sp>
        <p:nvSpPr>
          <p:cNvPr id="9" name="Text 7"/>
          <p:cNvSpPr/>
          <p:nvPr/>
        </p:nvSpPr>
        <p:spPr>
          <a:xfrm>
            <a:off x="640080" y="2057400"/>
            <a:ext cx="7772400" cy="9144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You are a process engineer at a chip fabrication plant. After the photolithography step, your quality control team notices that the circuit patterns on several wafers appear blurry and misaligned. Production is at risk of being delayed. What should you do FIRST?</a:t>
            </a:r>
            <a:endParaRPr lang="en-US" sz="1300" dirty="0"/>
          </a:p>
        </p:txBody>
      </p:sp>
      <p:sp>
        <p:nvSpPr>
          <p:cNvPr id="10" name="Shape 8"/>
          <p:cNvSpPr/>
          <p:nvPr/>
        </p:nvSpPr>
        <p:spPr>
          <a:xfrm>
            <a:off x="457200" y="3182112"/>
            <a:ext cx="4160520" cy="621792"/>
          </a:xfrm>
          <a:prstGeom prst="rect">
            <a:avLst/>
          </a:prstGeom>
          <a:solidFill>
            <a:srgbClr val="28134A"/>
          </a:solidFill>
          <a:ln w="12700">
            <a:solidFill>
              <a:srgbClr val="7B1FA2"/>
            </a:solidFill>
            <a:prstDash val="solid"/>
          </a:ln>
          <a:effectLst>
            <a:outerShdw blurRad="101600" dist="38100" dir="8100000" algn="bl" rotWithShape="0">
              <a:srgbClr val="000000">
                <a:alpha val="18000"/>
              </a:srgbClr>
            </a:outerShdw>
          </a:effectLst>
        </p:spPr>
      </p:sp>
      <p:sp>
        <p:nvSpPr>
          <p:cNvPr id="11" name="Shape 9"/>
          <p:cNvSpPr/>
          <p:nvPr/>
        </p:nvSpPr>
        <p:spPr>
          <a:xfrm>
            <a:off x="548640" y="3300984"/>
            <a:ext cx="384048" cy="384048"/>
          </a:xfrm>
          <a:prstGeom prst="ellipse">
            <a:avLst/>
          </a:prstGeom>
          <a:solidFill>
            <a:srgbClr val="7B1FA2"/>
          </a:solidFill>
          <a:ln w="12700">
            <a:solidFill>
              <a:srgbClr val="7B1FA2"/>
            </a:solidFill>
            <a:prstDash val="solid"/>
          </a:ln>
        </p:spPr>
      </p:sp>
      <p:sp>
        <p:nvSpPr>
          <p:cNvPr id="12" name="Text 10"/>
          <p:cNvSpPr/>
          <p:nvPr/>
        </p:nvSpPr>
        <p:spPr>
          <a:xfrm>
            <a:off x="548640"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A</a:t>
            </a:r>
            <a:endParaRPr lang="en-US" sz="1300" dirty="0"/>
          </a:p>
        </p:txBody>
      </p:sp>
      <p:sp>
        <p:nvSpPr>
          <p:cNvPr id="13" name="Text 11"/>
          <p:cNvSpPr/>
          <p:nvPr/>
        </p:nvSpPr>
        <p:spPr>
          <a:xfrm>
            <a:off x="1051560" y="3236976"/>
            <a:ext cx="3474720" cy="5303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Proceed to etching immediately — the blurriness might correct itself.
[Click → Incorrect: Defects do not self-correct in later steps]</a:t>
            </a:r>
            <a:endParaRPr lang="en-US" sz="1100" dirty="0"/>
          </a:p>
        </p:txBody>
      </p:sp>
      <p:sp>
        <p:nvSpPr>
          <p:cNvPr id="14" name="Shape 12"/>
          <p:cNvSpPr/>
          <p:nvPr/>
        </p:nvSpPr>
        <p:spPr>
          <a:xfrm>
            <a:off x="4846320" y="3182112"/>
            <a:ext cx="4160520" cy="621792"/>
          </a:xfrm>
          <a:prstGeom prst="rect">
            <a:avLst/>
          </a:prstGeom>
          <a:solidFill>
            <a:srgbClr val="28134A"/>
          </a:solidFill>
          <a:ln w="12700">
            <a:solidFill>
              <a:srgbClr val="7B1FA2"/>
            </a:solidFill>
            <a:prstDash val="solid"/>
          </a:ln>
          <a:effectLst>
            <a:outerShdw blurRad="101600" dist="38100" dir="8100000" algn="bl" rotWithShape="0">
              <a:srgbClr val="000000">
                <a:alpha val="18000"/>
              </a:srgbClr>
            </a:outerShdw>
          </a:effectLst>
        </p:spPr>
      </p:sp>
      <p:sp>
        <p:nvSpPr>
          <p:cNvPr id="15" name="Shape 13"/>
          <p:cNvSpPr/>
          <p:nvPr/>
        </p:nvSpPr>
        <p:spPr>
          <a:xfrm>
            <a:off x="4937760" y="3300984"/>
            <a:ext cx="384048" cy="384048"/>
          </a:xfrm>
          <a:prstGeom prst="ellipse">
            <a:avLst/>
          </a:prstGeom>
          <a:solidFill>
            <a:srgbClr val="7B1FA2"/>
          </a:solidFill>
          <a:ln w="12700">
            <a:solidFill>
              <a:srgbClr val="7B1FA2"/>
            </a:solidFill>
            <a:prstDash val="solid"/>
          </a:ln>
        </p:spPr>
      </p:sp>
      <p:sp>
        <p:nvSpPr>
          <p:cNvPr id="16" name="Text 14"/>
          <p:cNvSpPr/>
          <p:nvPr/>
        </p:nvSpPr>
        <p:spPr>
          <a:xfrm>
            <a:off x="4937760" y="33009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5440680" y="3236976"/>
            <a:ext cx="3474720" cy="5303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Halt the batch; inspect the UV system and photomask for defects.
[Click → Correct ✅: Isolates the problem before it cascades]</a:t>
            </a:r>
            <a:endParaRPr lang="en-US" sz="1100" dirty="0"/>
          </a:p>
        </p:txBody>
      </p:sp>
      <p:sp>
        <p:nvSpPr>
          <p:cNvPr id="18" name="Shape 16"/>
          <p:cNvSpPr/>
          <p:nvPr/>
        </p:nvSpPr>
        <p:spPr>
          <a:xfrm>
            <a:off x="457200" y="3931920"/>
            <a:ext cx="4160520" cy="621792"/>
          </a:xfrm>
          <a:prstGeom prst="rect">
            <a:avLst/>
          </a:prstGeom>
          <a:solidFill>
            <a:srgbClr val="28134A"/>
          </a:solidFill>
          <a:ln w="12700">
            <a:solidFill>
              <a:srgbClr val="7B1FA2"/>
            </a:solidFill>
            <a:prstDash val="solid"/>
          </a:ln>
          <a:effectLst>
            <a:outerShdw blurRad="101600" dist="38100" dir="8100000" algn="bl" rotWithShape="0">
              <a:srgbClr val="000000">
                <a:alpha val="18000"/>
              </a:srgbClr>
            </a:outerShdw>
          </a:effectLst>
        </p:spPr>
      </p:sp>
      <p:sp>
        <p:nvSpPr>
          <p:cNvPr id="19" name="Shape 17"/>
          <p:cNvSpPr/>
          <p:nvPr/>
        </p:nvSpPr>
        <p:spPr>
          <a:xfrm>
            <a:off x="548640" y="4050792"/>
            <a:ext cx="384048" cy="384048"/>
          </a:xfrm>
          <a:prstGeom prst="ellipse">
            <a:avLst/>
          </a:prstGeom>
          <a:solidFill>
            <a:srgbClr val="7B1FA2"/>
          </a:solidFill>
          <a:ln w="12700">
            <a:solidFill>
              <a:srgbClr val="7B1FA2"/>
            </a:solidFill>
            <a:prstDash val="solid"/>
          </a:ln>
        </p:spPr>
      </p:sp>
      <p:sp>
        <p:nvSpPr>
          <p:cNvPr id="20" name="Text 18"/>
          <p:cNvSpPr/>
          <p:nvPr/>
        </p:nvSpPr>
        <p:spPr>
          <a:xfrm>
            <a:off x="548640" y="40507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051560" y="3986784"/>
            <a:ext cx="3474720" cy="5303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Skip to packaging — the chips may still function at reduced capacity.
[Click → Incorrect: Faulty circuits cannot be fixed at packaging stage]</a:t>
            </a:r>
            <a:endParaRPr lang="en-US" sz="1100" dirty="0"/>
          </a:p>
        </p:txBody>
      </p:sp>
      <p:sp>
        <p:nvSpPr>
          <p:cNvPr id="22" name="Shape 20"/>
          <p:cNvSpPr/>
          <p:nvPr/>
        </p:nvSpPr>
        <p:spPr>
          <a:xfrm>
            <a:off x="4846320" y="3931920"/>
            <a:ext cx="4160520" cy="621792"/>
          </a:xfrm>
          <a:prstGeom prst="rect">
            <a:avLst/>
          </a:prstGeom>
          <a:solidFill>
            <a:srgbClr val="28134A"/>
          </a:solidFill>
          <a:ln w="12700">
            <a:solidFill>
              <a:srgbClr val="7B1FA2"/>
            </a:solidFill>
            <a:prstDash val="solid"/>
          </a:ln>
          <a:effectLst>
            <a:outerShdw blurRad="101600" dist="38100" dir="8100000" algn="bl" rotWithShape="0">
              <a:srgbClr val="000000">
                <a:alpha val="18000"/>
              </a:srgbClr>
            </a:outerShdw>
          </a:effectLst>
        </p:spPr>
      </p:sp>
      <p:sp>
        <p:nvSpPr>
          <p:cNvPr id="23" name="Shape 21"/>
          <p:cNvSpPr/>
          <p:nvPr/>
        </p:nvSpPr>
        <p:spPr>
          <a:xfrm>
            <a:off x="4937760" y="4050792"/>
            <a:ext cx="384048" cy="384048"/>
          </a:xfrm>
          <a:prstGeom prst="ellipse">
            <a:avLst/>
          </a:prstGeom>
          <a:solidFill>
            <a:srgbClr val="7B1FA2"/>
          </a:solidFill>
          <a:ln w="12700">
            <a:solidFill>
              <a:srgbClr val="7B1FA2"/>
            </a:solidFill>
            <a:prstDash val="solid"/>
          </a:ln>
        </p:spPr>
      </p:sp>
      <p:sp>
        <p:nvSpPr>
          <p:cNvPr id="24" name="Text 22"/>
          <p:cNvSpPr/>
          <p:nvPr/>
        </p:nvSpPr>
        <p:spPr>
          <a:xfrm>
            <a:off x="4937760" y="40507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5440680" y="3986784"/>
            <a:ext cx="3474720" cy="53035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Restart from silicon purification for the entire batch.
[Click → Incorrect: Unnecessary — issue is isolated to photolithography]</a:t>
            </a:r>
            <a:endParaRPr lang="en-US" sz="1100" dirty="0"/>
          </a:p>
        </p:txBody>
      </p:sp>
      <p:sp>
        <p:nvSpPr>
          <p:cNvPr id="26" name="Shape 24"/>
          <p:cNvSpPr/>
          <p:nvPr/>
        </p:nvSpPr>
        <p:spPr>
          <a:xfrm>
            <a:off x="457200" y="4450000"/>
            <a:ext cx="8229600" cy="580000"/>
          </a:xfrm>
          <a:prstGeom prst="rect">
            <a:avLst/>
          </a:prstGeom>
          <a:solidFill>
            <a:srgbClr val="28134A"/>
          </a:solidFill>
          <a:ln w="12700">
            <a:solidFill>
              <a:srgbClr val="B0BEC5"/>
            </a:solidFill>
            <a:prstDash val="solid"/>
          </a:ln>
        </p:spPr>
      </p:sp>
      <p:sp>
        <p:nvSpPr>
          <p:cNvPr id="27" name="Text 25"/>
          <p:cNvSpPr/>
          <p:nvPr/>
        </p:nvSpPr>
        <p:spPr>
          <a:xfrm>
            <a:off x="457200" y="4450000"/>
            <a:ext cx="8229600" cy="580000"/>
          </a:xfrm>
          <a:prstGeom prst="rect">
            <a:avLst/>
          </a:prstGeom>
          <a:noFill/>
          <a:ln/>
        </p:spPr>
        <p:txBody>
          <a:bodyPr wrap="square" lIns="0" tIns="0" rIns="0" bIns="0" rtlCol="0" anchor="ctr"/>
          <a:lstStyle/>
          <a:p>
            <a:pPr marL="0" indent="0" algn="ctr">
              <a:buNone/>
            </a:pPr>
            <a:r>
              <a:rPr lang="en-US" sz="1050" i="1" dirty="0">
                <a:solidFill>
                  <a:srgbClr val="B0BEC5"/>
                </a:solidFill>
                <a:latin typeface="Calibri" pitchFamily="34" charset="0"/>
                <a:ea typeface="Calibri" pitchFamily="34" charset="-122"/>
                <a:cs typeface="Calibri" pitchFamily="34" charset="-120"/>
              </a:rPr>
              <a:t>Interaction: Single-select | Click to reveal feedback  |  Layer 1: Result (✅/❌)  |  Layer 2: Explanation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2244"/>
          </a:solidFill>
          <a:ln w="12700">
            <a:solidFill>
              <a:srgbClr val="0D2244"/>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10 of 12</a:t>
            </a:r>
            <a:endParaRPr lang="en-US" sz="1000" dirty="0"/>
          </a:p>
        </p:txBody>
      </p:sp>
      <p:sp>
        <p:nvSpPr>
          <p:cNvPr id="4" name="Shape 2"/>
          <p:cNvSpPr/>
          <p:nvPr/>
        </p:nvSpPr>
        <p:spPr>
          <a:xfrm>
            <a:off x="457200" y="640080"/>
            <a:ext cx="2560320" cy="347472"/>
          </a:xfrm>
          <a:prstGeom prst="roundRect">
            <a:avLst>
              <a:gd name="adj" fmla="val 21053"/>
            </a:avLst>
          </a:prstGeom>
          <a:solidFill>
            <a:srgbClr val="FFB300">
              <a:alpha val="80000"/>
            </a:srgbClr>
          </a:solidFill>
          <a:ln w="12700">
            <a:solidFill>
              <a:srgbClr val="FFB300"/>
            </a:solidFill>
            <a:prstDash val="solid"/>
          </a:ln>
        </p:spPr>
      </p:sp>
      <p:sp>
        <p:nvSpPr>
          <p:cNvPr id="5" name="Text 3"/>
          <p:cNvSpPr/>
          <p:nvPr/>
        </p:nvSpPr>
        <p:spPr>
          <a:xfrm>
            <a:off x="457200" y="640080"/>
            <a:ext cx="2560320" cy="347472"/>
          </a:xfrm>
          <a:prstGeom prst="rect">
            <a:avLst/>
          </a:prstGeom>
          <a:noFill/>
          <a:ln/>
        </p:spPr>
        <p:txBody>
          <a:bodyPr wrap="square" lIns="0" tIns="0" rIns="0" bIns="0" rtlCol="0" anchor="ctr"/>
          <a:lstStyle/>
          <a:p>
            <a:pPr marL="0" indent="0" algn="ctr">
              <a:buNone/>
            </a:pPr>
            <a:r>
              <a:rPr lang="en-US" sz="1000" b="1" dirty="0">
                <a:solidFill>
                  <a:srgbClr val="0B1D3A"/>
                </a:solidFill>
                <a:latin typeface="Calibri" pitchFamily="34" charset="0"/>
                <a:ea typeface="Calibri" pitchFamily="34" charset="-122"/>
                <a:cs typeface="Calibri" pitchFamily="34" charset="-120"/>
              </a:rPr>
              <a:t>KEY TAKEAWAYS</a:t>
            </a:r>
            <a:endParaRPr lang="en-US" sz="1000" dirty="0"/>
          </a:p>
        </p:txBody>
      </p:sp>
      <p:sp>
        <p:nvSpPr>
          <p:cNvPr id="6" name="Text 4"/>
          <p:cNvSpPr/>
          <p:nvPr/>
        </p:nvSpPr>
        <p:spPr>
          <a:xfrm>
            <a:off x="457200" y="1051560"/>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What You've Learned Today</a:t>
            </a:r>
            <a:endParaRPr lang="en-US" sz="2400" dirty="0"/>
          </a:p>
        </p:txBody>
      </p:sp>
      <p:sp>
        <p:nvSpPr>
          <p:cNvPr id="7" name="Shape 5"/>
          <p:cNvSpPr/>
          <p:nvPr/>
        </p:nvSpPr>
        <p:spPr>
          <a:xfrm>
            <a:off x="347472" y="173736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8" name="Image 0" descr="preencoded.png"/>
          <p:cNvPicPr>
            <a:picLocks noChangeAspect="1"/>
          </p:cNvPicPr>
          <p:nvPr/>
        </p:nvPicPr>
        <p:blipFill>
          <a:blip r:embed="rId3"/>
          <a:stretch>
            <a:fillRect/>
          </a:stretch>
        </p:blipFill>
        <p:spPr>
          <a:xfrm>
            <a:off x="457200" y="2148840"/>
            <a:ext cx="329184" cy="329184"/>
          </a:xfrm>
          <a:prstGeom prst="rect">
            <a:avLst/>
          </a:prstGeom>
        </p:spPr>
      </p:pic>
      <p:sp>
        <p:nvSpPr>
          <p:cNvPr id="9" name="Text 6"/>
          <p:cNvSpPr/>
          <p:nvPr/>
        </p:nvSpPr>
        <p:spPr>
          <a:xfrm>
            <a:off x="877824" y="184708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Semiconductors are materials that can be controlled to conduct or block electricity — enabling all modern electronics.</a:t>
            </a:r>
            <a:endParaRPr lang="en-US" sz="1050" dirty="0"/>
          </a:p>
        </p:txBody>
      </p:sp>
      <p:sp>
        <p:nvSpPr>
          <p:cNvPr id="10" name="Shape 7"/>
          <p:cNvSpPr/>
          <p:nvPr/>
        </p:nvSpPr>
        <p:spPr>
          <a:xfrm>
            <a:off x="3200400" y="173736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11" name="Image 1" descr="preencoded.png"/>
          <p:cNvPicPr>
            <a:picLocks noChangeAspect="1"/>
          </p:cNvPicPr>
          <p:nvPr/>
        </p:nvPicPr>
        <p:blipFill>
          <a:blip r:embed="rId3"/>
          <a:stretch>
            <a:fillRect/>
          </a:stretch>
        </p:blipFill>
        <p:spPr>
          <a:xfrm>
            <a:off x="3310128" y="2148840"/>
            <a:ext cx="329184" cy="329184"/>
          </a:xfrm>
          <a:prstGeom prst="rect">
            <a:avLst/>
          </a:prstGeom>
        </p:spPr>
      </p:pic>
      <p:sp>
        <p:nvSpPr>
          <p:cNvPr id="12" name="Text 8"/>
          <p:cNvSpPr/>
          <p:nvPr/>
        </p:nvSpPr>
        <p:spPr>
          <a:xfrm>
            <a:off x="3730752" y="184708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Silicon is the foundation — purified from sand, grown into crystal ingots, and sliced into wafers.</a:t>
            </a:r>
            <a:endParaRPr lang="en-US" sz="1050" dirty="0"/>
          </a:p>
        </p:txBody>
      </p:sp>
      <p:sp>
        <p:nvSpPr>
          <p:cNvPr id="13" name="Shape 9"/>
          <p:cNvSpPr/>
          <p:nvPr/>
        </p:nvSpPr>
        <p:spPr>
          <a:xfrm>
            <a:off x="6053328" y="173736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14" name="Image 2" descr="preencoded.png"/>
          <p:cNvPicPr>
            <a:picLocks noChangeAspect="1"/>
          </p:cNvPicPr>
          <p:nvPr/>
        </p:nvPicPr>
        <p:blipFill>
          <a:blip r:embed="rId3"/>
          <a:stretch>
            <a:fillRect/>
          </a:stretch>
        </p:blipFill>
        <p:spPr>
          <a:xfrm>
            <a:off x="6163056" y="2148840"/>
            <a:ext cx="329184" cy="329184"/>
          </a:xfrm>
          <a:prstGeom prst="rect">
            <a:avLst/>
          </a:prstGeom>
        </p:spPr>
      </p:pic>
      <p:sp>
        <p:nvSpPr>
          <p:cNvPr id="15" name="Text 10"/>
          <p:cNvSpPr/>
          <p:nvPr/>
        </p:nvSpPr>
        <p:spPr>
          <a:xfrm>
            <a:off x="6583680" y="184708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Photolithography and etching create the microscopic circuit patterns on each wafer using light and chemistry.</a:t>
            </a:r>
            <a:endParaRPr lang="en-US" sz="1050" dirty="0"/>
          </a:p>
        </p:txBody>
      </p:sp>
      <p:sp>
        <p:nvSpPr>
          <p:cNvPr id="16" name="Shape 11"/>
          <p:cNvSpPr/>
          <p:nvPr/>
        </p:nvSpPr>
        <p:spPr>
          <a:xfrm>
            <a:off x="347472" y="315468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17" name="Image 3" descr="preencoded.png"/>
          <p:cNvPicPr>
            <a:picLocks noChangeAspect="1"/>
          </p:cNvPicPr>
          <p:nvPr/>
        </p:nvPicPr>
        <p:blipFill>
          <a:blip r:embed="rId3"/>
          <a:stretch>
            <a:fillRect/>
          </a:stretch>
        </p:blipFill>
        <p:spPr>
          <a:xfrm>
            <a:off x="457200" y="3566160"/>
            <a:ext cx="329184" cy="329184"/>
          </a:xfrm>
          <a:prstGeom prst="rect">
            <a:avLst/>
          </a:prstGeom>
        </p:spPr>
      </p:pic>
      <p:sp>
        <p:nvSpPr>
          <p:cNvPr id="18" name="Text 12"/>
          <p:cNvSpPr/>
          <p:nvPr/>
        </p:nvSpPr>
        <p:spPr>
          <a:xfrm>
            <a:off x="877824" y="326440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Doping and deposition build the electrical properties and multi-layer structure of a transistor.</a:t>
            </a:r>
            <a:endParaRPr lang="en-US" sz="1050" dirty="0"/>
          </a:p>
        </p:txBody>
      </p:sp>
      <p:sp>
        <p:nvSpPr>
          <p:cNvPr id="19" name="Shape 13"/>
          <p:cNvSpPr/>
          <p:nvPr/>
        </p:nvSpPr>
        <p:spPr>
          <a:xfrm>
            <a:off x="3200400" y="315468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20" name="Image 4" descr="preencoded.png"/>
          <p:cNvPicPr>
            <a:picLocks noChangeAspect="1"/>
          </p:cNvPicPr>
          <p:nvPr/>
        </p:nvPicPr>
        <p:blipFill>
          <a:blip r:embed="rId3"/>
          <a:stretch>
            <a:fillRect/>
          </a:stretch>
        </p:blipFill>
        <p:spPr>
          <a:xfrm>
            <a:off x="3310128" y="3566160"/>
            <a:ext cx="329184" cy="329184"/>
          </a:xfrm>
          <a:prstGeom prst="rect">
            <a:avLst/>
          </a:prstGeom>
        </p:spPr>
      </p:pic>
      <p:sp>
        <p:nvSpPr>
          <p:cNvPr id="21" name="Text 14"/>
          <p:cNvSpPr/>
          <p:nvPr/>
        </p:nvSpPr>
        <p:spPr>
          <a:xfrm>
            <a:off x="3730752" y="326440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Every chip is tested before packaging — quality control determines which chips are fit for use.</a:t>
            </a:r>
            <a:endParaRPr lang="en-US" sz="1050" dirty="0"/>
          </a:p>
        </p:txBody>
      </p:sp>
      <p:sp>
        <p:nvSpPr>
          <p:cNvPr id="22" name="Shape 15"/>
          <p:cNvSpPr/>
          <p:nvPr/>
        </p:nvSpPr>
        <p:spPr>
          <a:xfrm>
            <a:off x="6053328" y="3154680"/>
            <a:ext cx="2697480" cy="1188720"/>
          </a:xfrm>
          <a:prstGeom prst="rect">
            <a:avLst/>
          </a:prstGeom>
          <a:solidFill>
            <a:srgbClr val="132040"/>
          </a:solidFill>
          <a:ln w="12700">
            <a:solidFill>
              <a:srgbClr val="00897B"/>
            </a:solidFill>
            <a:prstDash val="solid"/>
          </a:ln>
          <a:effectLst>
            <a:outerShdw blurRad="101600" dist="38100" dir="8100000" algn="bl" rotWithShape="0">
              <a:srgbClr val="000000">
                <a:alpha val="18000"/>
              </a:srgbClr>
            </a:outerShdw>
          </a:effectLst>
        </p:spPr>
      </p:sp>
      <p:pic>
        <p:nvPicPr>
          <p:cNvPr id="23" name="Image 5" descr="preencoded.png"/>
          <p:cNvPicPr>
            <a:picLocks noChangeAspect="1"/>
          </p:cNvPicPr>
          <p:nvPr/>
        </p:nvPicPr>
        <p:blipFill>
          <a:blip r:embed="rId3"/>
          <a:stretch>
            <a:fillRect/>
          </a:stretch>
        </p:blipFill>
        <p:spPr>
          <a:xfrm>
            <a:off x="6163056" y="3566160"/>
            <a:ext cx="329184" cy="329184"/>
          </a:xfrm>
          <a:prstGeom prst="rect">
            <a:avLst/>
          </a:prstGeom>
        </p:spPr>
      </p:pic>
      <p:sp>
        <p:nvSpPr>
          <p:cNvPr id="24" name="Text 16"/>
          <p:cNvSpPr/>
          <p:nvPr/>
        </p:nvSpPr>
        <p:spPr>
          <a:xfrm>
            <a:off x="6583680" y="3264408"/>
            <a:ext cx="2075688" cy="98755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From sand to chip, the journey spans weeks, thousands of process steps, and atomic-level precision.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1D3A"/>
          </a:solidFill>
          <a:ln w="12700">
            <a:solidFill>
              <a:srgbClr val="0B1D3A"/>
            </a:solidFill>
            <a:prstDash val="solid"/>
          </a:ln>
        </p:spPr>
      </p:sp>
      <p:sp>
        <p:nvSpPr>
          <p:cNvPr id="3" name="Text 1"/>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11 of 12</a:t>
            </a:r>
            <a:endParaRPr lang="en-US" sz="1000" dirty="0"/>
          </a:p>
        </p:txBody>
      </p:sp>
      <p:sp>
        <p:nvSpPr>
          <p:cNvPr id="4" name="Shape 2"/>
          <p:cNvSpPr/>
          <p:nvPr/>
        </p:nvSpPr>
        <p:spPr>
          <a:xfrm>
            <a:off x="457200" y="640080"/>
            <a:ext cx="1828800" cy="365760"/>
          </a:xfrm>
          <a:prstGeom prst="roundRect">
            <a:avLst>
              <a:gd name="adj" fmla="val 20000"/>
            </a:avLst>
          </a:prstGeom>
          <a:solidFill>
            <a:srgbClr val="00897B"/>
          </a:solidFill>
          <a:ln w="12700">
            <a:solidFill>
              <a:srgbClr val="00897B"/>
            </a:solidFill>
            <a:prstDash val="solid"/>
          </a:ln>
        </p:spPr>
      </p:sp>
      <p:sp>
        <p:nvSpPr>
          <p:cNvPr id="5" name="Text 3"/>
          <p:cNvSpPr/>
          <p:nvPr/>
        </p:nvSpPr>
        <p:spPr>
          <a:xfrm>
            <a:off x="457200" y="640080"/>
            <a:ext cx="182880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QUIZ CHECK</a:t>
            </a:r>
            <a:endParaRPr lang="en-US" sz="1000" dirty="0"/>
          </a:p>
        </p:txBody>
      </p:sp>
      <p:sp>
        <p:nvSpPr>
          <p:cNvPr id="6" name="Text 4"/>
          <p:cNvSpPr/>
          <p:nvPr/>
        </p:nvSpPr>
        <p:spPr>
          <a:xfrm>
            <a:off x="457200" y="1097280"/>
            <a:ext cx="8229600" cy="530352"/>
          </a:xfrm>
          <a:prstGeom prst="rect">
            <a:avLst/>
          </a:prstGeom>
          <a:noFill/>
          <a:ln/>
        </p:spPr>
        <p:txBody>
          <a:bodyPr wrap="square" lIns="0" tIns="0" rIns="0" bIns="0" rtlCol="0" anchor="ctr"/>
          <a:lstStyle/>
          <a:p>
            <a:pPr marL="0" indent="0">
              <a:buNone/>
            </a:pPr>
            <a:r>
              <a:rPr lang="en-US" sz="2400" b="1" dirty="0">
                <a:solidFill>
                  <a:srgbClr val="0B1D3A"/>
                </a:solidFill>
                <a:latin typeface="Trebuchet MS" pitchFamily="34" charset="0"/>
                <a:ea typeface="Trebuchet MS" pitchFamily="34" charset="-122"/>
                <a:cs typeface="Trebuchet MS" pitchFamily="34" charset="-120"/>
              </a:rPr>
              <a:t>Test Your Understanding</a:t>
            </a:r>
            <a:endParaRPr lang="en-US" sz="2400" dirty="0"/>
          </a:p>
        </p:txBody>
      </p:sp>
      <p:sp>
        <p:nvSpPr>
          <p:cNvPr id="7" name="Text 5"/>
          <p:cNvSpPr/>
          <p:nvPr/>
        </p:nvSpPr>
        <p:spPr>
          <a:xfrm>
            <a:off x="457200" y="1627632"/>
            <a:ext cx="8229600" cy="347472"/>
          </a:xfrm>
          <a:prstGeom prst="rect">
            <a:avLst/>
          </a:prstGeom>
          <a:noFill/>
          <a:ln/>
        </p:spPr>
        <p:txBody>
          <a:bodyPr wrap="square" lIns="0" tIns="0" rIns="0" bIns="0" rtlCol="0" anchor="ctr"/>
          <a:lstStyle/>
          <a:p>
            <a:pPr marL="0" indent="0">
              <a:buNone/>
            </a:pPr>
            <a:r>
              <a:rPr lang="en-US" sz="1200" dirty="0">
                <a:solidFill>
                  <a:srgbClr val="607D8B"/>
                </a:solidFill>
                <a:latin typeface="Calibri" pitchFamily="34" charset="0"/>
                <a:ea typeface="Calibri" pitchFamily="34" charset="-122"/>
                <a:cs typeface="Calibri" pitchFamily="34" charset="-120"/>
              </a:rPr>
              <a:t>Answer the following questions. Results help you check how well you've understood the key concepts.</a:t>
            </a:r>
            <a:endParaRPr lang="en-US" sz="1200" dirty="0"/>
          </a:p>
        </p:txBody>
      </p:sp>
      <p:sp>
        <p:nvSpPr>
          <p:cNvPr id="8" name="Shape 6"/>
          <p:cNvSpPr/>
          <p:nvPr/>
        </p:nvSpPr>
        <p:spPr>
          <a:xfrm>
            <a:off x="457200" y="2057400"/>
            <a:ext cx="8229600" cy="86868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9" name="Shape 7"/>
          <p:cNvSpPr/>
          <p:nvPr/>
        </p:nvSpPr>
        <p:spPr>
          <a:xfrm>
            <a:off x="457200" y="2057400"/>
            <a:ext cx="73152" cy="868680"/>
          </a:xfrm>
          <a:prstGeom prst="rect">
            <a:avLst/>
          </a:prstGeom>
          <a:solidFill>
            <a:srgbClr val="00897B"/>
          </a:solidFill>
          <a:ln w="12700">
            <a:solidFill>
              <a:srgbClr val="00897B"/>
            </a:solidFill>
            <a:prstDash val="solid"/>
          </a:ln>
        </p:spPr>
      </p:sp>
      <p:sp>
        <p:nvSpPr>
          <p:cNvPr id="10" name="Text 8"/>
          <p:cNvSpPr/>
          <p:nvPr/>
        </p:nvSpPr>
        <p:spPr>
          <a:xfrm>
            <a:off x="640080" y="2093976"/>
            <a:ext cx="7863840" cy="347472"/>
          </a:xfrm>
          <a:prstGeom prst="rect">
            <a:avLst/>
          </a:prstGeom>
          <a:noFill/>
          <a:ln/>
        </p:spPr>
        <p:txBody>
          <a:bodyPr wrap="square" lIns="0" tIns="0" rIns="0" bIns="0" rtlCol="0" anchor="ctr"/>
          <a:lstStyle/>
          <a:p>
            <a:pPr marL="0" indent="0">
              <a:buNone/>
            </a:pPr>
            <a:r>
              <a:rPr lang="en-US" sz="1250" b="1" dirty="0">
                <a:solidFill>
                  <a:srgbClr val="0B1D3A"/>
                </a:solidFill>
                <a:latin typeface="Trebuchet MS" pitchFamily="34" charset="0"/>
                <a:ea typeface="Trebuchet MS" pitchFamily="34" charset="-122"/>
                <a:cs typeface="Trebuchet MS" pitchFamily="34" charset="-120"/>
              </a:rPr>
              <a:t>Q1: Which process uses UV light to transfer a circuit pattern onto a silicon wafer?</a:t>
            </a:r>
            <a:endParaRPr lang="en-US" sz="1250" dirty="0"/>
          </a:p>
        </p:txBody>
      </p:sp>
      <p:sp>
        <p:nvSpPr>
          <p:cNvPr id="11" name="Text 9"/>
          <p:cNvSpPr/>
          <p:nvPr/>
        </p:nvSpPr>
        <p:spPr>
          <a:xfrm>
            <a:off x="640080" y="2478024"/>
            <a:ext cx="7863840" cy="347472"/>
          </a:xfrm>
          <a:prstGeom prst="rect">
            <a:avLst/>
          </a:prstGeom>
          <a:noFill/>
          <a:ln/>
        </p:spPr>
        <p:txBody>
          <a:bodyPr wrap="square" lIns="0" tIns="0" rIns="0" bIns="0" rtlCol="0" anchor="ctr"/>
          <a:lstStyle/>
          <a:p>
            <a:pPr marL="0" indent="0">
              <a:buNone/>
            </a:pPr>
            <a:r>
              <a:rPr lang="en-US" sz="1100" dirty="0">
                <a:solidFill>
                  <a:srgbClr val="607D8B"/>
                </a:solidFill>
                <a:latin typeface="Calibri" pitchFamily="34" charset="0"/>
                <a:ea typeface="Calibri" pitchFamily="34" charset="-122"/>
                <a:cs typeface="Calibri" pitchFamily="34" charset="-120"/>
              </a:rPr>
              <a:t>A. Doping     B. Etching     C. Photolithography ✅     D. Deposition</a:t>
            </a:r>
            <a:endParaRPr lang="en-US" sz="1100" dirty="0"/>
          </a:p>
        </p:txBody>
      </p:sp>
      <p:sp>
        <p:nvSpPr>
          <p:cNvPr id="12" name="Shape 10"/>
          <p:cNvSpPr/>
          <p:nvPr/>
        </p:nvSpPr>
        <p:spPr>
          <a:xfrm>
            <a:off x="457200" y="3017520"/>
            <a:ext cx="8229600" cy="86868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13" name="Shape 11"/>
          <p:cNvSpPr/>
          <p:nvPr/>
        </p:nvSpPr>
        <p:spPr>
          <a:xfrm>
            <a:off x="457200" y="3017520"/>
            <a:ext cx="73152" cy="868680"/>
          </a:xfrm>
          <a:prstGeom prst="rect">
            <a:avLst/>
          </a:prstGeom>
          <a:solidFill>
            <a:srgbClr val="00897B"/>
          </a:solidFill>
          <a:ln w="12700">
            <a:solidFill>
              <a:srgbClr val="00897B"/>
            </a:solidFill>
            <a:prstDash val="solid"/>
          </a:ln>
        </p:spPr>
      </p:sp>
      <p:sp>
        <p:nvSpPr>
          <p:cNvPr id="14" name="Text 12"/>
          <p:cNvSpPr/>
          <p:nvPr/>
        </p:nvSpPr>
        <p:spPr>
          <a:xfrm>
            <a:off x="640080" y="3054096"/>
            <a:ext cx="7863840" cy="347472"/>
          </a:xfrm>
          <a:prstGeom prst="rect">
            <a:avLst/>
          </a:prstGeom>
          <a:noFill/>
          <a:ln/>
        </p:spPr>
        <p:txBody>
          <a:bodyPr wrap="square" lIns="0" tIns="0" rIns="0" bIns="0" rtlCol="0" anchor="ctr"/>
          <a:lstStyle/>
          <a:p>
            <a:pPr marL="0" indent="0">
              <a:buNone/>
            </a:pPr>
            <a:r>
              <a:rPr lang="en-US" sz="1250" b="1" dirty="0">
                <a:solidFill>
                  <a:srgbClr val="0B1D3A"/>
                </a:solidFill>
                <a:latin typeface="Trebuchet MS" pitchFamily="34" charset="0"/>
                <a:ea typeface="Trebuchet MS" pitchFamily="34" charset="-122"/>
                <a:cs typeface="Trebuchet MS" pitchFamily="34" charset="-120"/>
              </a:rPr>
              <a:t>Q2: What is the purpose of doping in semiconductor manufacturing?</a:t>
            </a:r>
            <a:endParaRPr lang="en-US" sz="1250" dirty="0"/>
          </a:p>
        </p:txBody>
      </p:sp>
      <p:sp>
        <p:nvSpPr>
          <p:cNvPr id="15" name="Text 13"/>
          <p:cNvSpPr/>
          <p:nvPr/>
        </p:nvSpPr>
        <p:spPr>
          <a:xfrm>
            <a:off x="640080" y="3438144"/>
            <a:ext cx="7863840" cy="347472"/>
          </a:xfrm>
          <a:prstGeom prst="rect">
            <a:avLst/>
          </a:prstGeom>
          <a:noFill/>
          <a:ln/>
        </p:spPr>
        <p:txBody>
          <a:bodyPr wrap="square" lIns="0" tIns="0" rIns="0" bIns="0" rtlCol="0" anchor="ctr"/>
          <a:lstStyle/>
          <a:p>
            <a:pPr marL="0" indent="0">
              <a:buNone/>
            </a:pPr>
            <a:r>
              <a:rPr lang="en-US" sz="1100" dirty="0">
                <a:solidFill>
                  <a:srgbClr val="607D8B"/>
                </a:solidFill>
                <a:latin typeface="Calibri" pitchFamily="34" charset="0"/>
                <a:ea typeface="Calibri" pitchFamily="34" charset="-122"/>
                <a:cs typeface="Calibri" pitchFamily="34" charset="-120"/>
              </a:rPr>
              <a:t>A. To slice the wafer thinner     B. To alter silicon's electrical conductivity ✅     C. To test chip performance     D. To apply photoresist coating</a:t>
            </a:r>
            <a:endParaRPr lang="en-US" sz="1100" dirty="0"/>
          </a:p>
        </p:txBody>
      </p:sp>
      <p:sp>
        <p:nvSpPr>
          <p:cNvPr id="16" name="Shape 14"/>
          <p:cNvSpPr/>
          <p:nvPr/>
        </p:nvSpPr>
        <p:spPr>
          <a:xfrm>
            <a:off x="457200" y="3977640"/>
            <a:ext cx="8229600" cy="868680"/>
          </a:xfrm>
          <a:prstGeom prst="rect">
            <a:avLst/>
          </a:prstGeom>
          <a:solidFill>
            <a:srgbClr val="FFFFFF"/>
          </a:solidFill>
          <a:ln w="12700">
            <a:solidFill>
              <a:srgbClr val="B0BEC5"/>
            </a:solidFill>
            <a:prstDash val="solid"/>
          </a:ln>
          <a:effectLst>
            <a:outerShdw blurRad="101600" dist="38100" dir="8100000" algn="bl" rotWithShape="0">
              <a:srgbClr val="000000">
                <a:alpha val="18000"/>
              </a:srgbClr>
            </a:outerShdw>
          </a:effectLst>
        </p:spPr>
      </p:sp>
      <p:sp>
        <p:nvSpPr>
          <p:cNvPr id="17" name="Shape 15"/>
          <p:cNvSpPr/>
          <p:nvPr/>
        </p:nvSpPr>
        <p:spPr>
          <a:xfrm>
            <a:off x="457200" y="3977640"/>
            <a:ext cx="73152" cy="868680"/>
          </a:xfrm>
          <a:prstGeom prst="rect">
            <a:avLst/>
          </a:prstGeom>
          <a:solidFill>
            <a:srgbClr val="00897B"/>
          </a:solidFill>
          <a:ln w="12700">
            <a:solidFill>
              <a:srgbClr val="00897B"/>
            </a:solidFill>
            <a:prstDash val="solid"/>
          </a:ln>
        </p:spPr>
      </p:sp>
      <p:sp>
        <p:nvSpPr>
          <p:cNvPr id="18" name="Text 16"/>
          <p:cNvSpPr/>
          <p:nvPr/>
        </p:nvSpPr>
        <p:spPr>
          <a:xfrm>
            <a:off x="640080" y="4014216"/>
            <a:ext cx="7863840" cy="347472"/>
          </a:xfrm>
          <a:prstGeom prst="rect">
            <a:avLst/>
          </a:prstGeom>
          <a:noFill/>
          <a:ln/>
        </p:spPr>
        <p:txBody>
          <a:bodyPr wrap="square" lIns="0" tIns="0" rIns="0" bIns="0" rtlCol="0" anchor="ctr"/>
          <a:lstStyle/>
          <a:p>
            <a:pPr marL="0" indent="0">
              <a:buNone/>
            </a:pPr>
            <a:r>
              <a:rPr lang="en-US" sz="1250" b="1" dirty="0">
                <a:solidFill>
                  <a:srgbClr val="0B1D3A"/>
                </a:solidFill>
                <a:latin typeface="Trebuchet MS" pitchFamily="34" charset="0"/>
                <a:ea typeface="Trebuchet MS" pitchFamily="34" charset="-122"/>
                <a:cs typeface="Trebuchet MS" pitchFamily="34" charset="-120"/>
              </a:rPr>
              <a:t>Q3: In the correct manufacturing sequence, which step comes AFTER etching?</a:t>
            </a:r>
            <a:endParaRPr lang="en-US" sz="1250" dirty="0"/>
          </a:p>
        </p:txBody>
      </p:sp>
      <p:sp>
        <p:nvSpPr>
          <p:cNvPr id="19" name="Text 17"/>
          <p:cNvSpPr/>
          <p:nvPr/>
        </p:nvSpPr>
        <p:spPr>
          <a:xfrm>
            <a:off x="640080" y="4398264"/>
            <a:ext cx="7863840" cy="347472"/>
          </a:xfrm>
          <a:prstGeom prst="rect">
            <a:avLst/>
          </a:prstGeom>
          <a:noFill/>
          <a:ln/>
        </p:spPr>
        <p:txBody>
          <a:bodyPr wrap="square" lIns="0" tIns="0" rIns="0" bIns="0" rtlCol="0" anchor="ctr"/>
          <a:lstStyle/>
          <a:p>
            <a:pPr marL="0" indent="0">
              <a:buNone/>
            </a:pPr>
            <a:r>
              <a:rPr lang="en-US" sz="1100" dirty="0">
                <a:solidFill>
                  <a:srgbClr val="607D8B"/>
                </a:solidFill>
                <a:latin typeface="Calibri" pitchFamily="34" charset="0"/>
                <a:ea typeface="Calibri" pitchFamily="34" charset="-122"/>
                <a:cs typeface="Calibri" pitchFamily="34" charset="-120"/>
              </a:rPr>
              <a:t>A. Photolithography     B. Silicon purification     C. Wafer slicing     D. Doping &amp; Ion Implantation ✅</a:t>
            </a:r>
            <a:endParaRPr lang="en-US" sz="1100" dirty="0"/>
          </a:p>
        </p:txBody>
      </p:sp>
      <p:sp>
        <p:nvSpPr>
          <p:cNvPr id="20" name="Shape 18"/>
          <p:cNvSpPr/>
          <p:nvPr/>
        </p:nvSpPr>
        <p:spPr>
          <a:xfrm>
            <a:off x="457200" y="4681728"/>
            <a:ext cx="8229600" cy="274320"/>
          </a:xfrm>
          <a:prstGeom prst="rect">
            <a:avLst/>
          </a:prstGeom>
          <a:solidFill>
            <a:srgbClr val="0B1D3A">
              <a:alpha val="8000"/>
            </a:srgbClr>
          </a:solidFill>
          <a:ln w="12700">
            <a:solidFill>
              <a:srgbClr val="B0BEC5"/>
            </a:solidFill>
            <a:prstDash val="solid"/>
          </a:ln>
        </p:spPr>
      </p:sp>
      <p:sp>
        <p:nvSpPr>
          <p:cNvPr id="21" name="Text 19"/>
          <p:cNvSpPr/>
          <p:nvPr/>
        </p:nvSpPr>
        <p:spPr>
          <a:xfrm>
            <a:off x="457200" y="4681728"/>
            <a:ext cx="8229600" cy="274320"/>
          </a:xfrm>
          <a:prstGeom prst="rect">
            <a:avLst/>
          </a:prstGeom>
          <a:noFill/>
          <a:ln/>
        </p:spPr>
        <p:txBody>
          <a:bodyPr wrap="square" lIns="0" tIns="0" rIns="0" bIns="0" rtlCol="0" anchor="ctr"/>
          <a:lstStyle/>
          <a:p>
            <a:pPr marL="0" indent="0" algn="ctr">
              <a:buNone/>
            </a:pPr>
            <a:r>
              <a:rPr lang="en-US" sz="1000" i="1" dirty="0">
                <a:solidFill>
                  <a:srgbClr val="607D8B"/>
                </a:solidFill>
                <a:latin typeface="Calibri" pitchFamily="34" charset="0"/>
                <a:ea typeface="Calibri" pitchFamily="34" charset="-122"/>
                <a:cs typeface="Calibri" pitchFamily="34" charset="-120"/>
              </a:rPr>
              <a:t>✅ marks the correct answer. In the interactive version, learners select answers and receive instant feedback.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274320" y="4828032"/>
            <a:ext cx="91440" cy="91440"/>
          </a:xfrm>
          <a:prstGeom prst="ellipse">
            <a:avLst/>
          </a:prstGeom>
          <a:solidFill>
            <a:srgbClr val="00897B">
              <a:alpha val="60000"/>
            </a:srgbClr>
          </a:solidFill>
          <a:ln w="12700">
            <a:solidFill>
              <a:srgbClr val="00897B"/>
            </a:solidFill>
            <a:prstDash val="solid"/>
          </a:ln>
        </p:spPr>
      </p:sp>
      <p:sp>
        <p:nvSpPr>
          <p:cNvPr id="3" name="Shape 1"/>
          <p:cNvSpPr/>
          <p:nvPr/>
        </p:nvSpPr>
        <p:spPr>
          <a:xfrm>
            <a:off x="777240" y="4828032"/>
            <a:ext cx="91440" cy="91440"/>
          </a:xfrm>
          <a:prstGeom prst="ellipse">
            <a:avLst/>
          </a:prstGeom>
          <a:solidFill>
            <a:srgbClr val="00897B">
              <a:alpha val="30000"/>
            </a:srgbClr>
          </a:solidFill>
          <a:ln w="12700">
            <a:solidFill>
              <a:srgbClr val="00897B"/>
            </a:solidFill>
            <a:prstDash val="solid"/>
          </a:ln>
        </p:spPr>
      </p:sp>
      <p:sp>
        <p:nvSpPr>
          <p:cNvPr id="4" name="Shape 2"/>
          <p:cNvSpPr/>
          <p:nvPr/>
        </p:nvSpPr>
        <p:spPr>
          <a:xfrm>
            <a:off x="1280160" y="4828032"/>
            <a:ext cx="91440" cy="91440"/>
          </a:xfrm>
          <a:prstGeom prst="ellipse">
            <a:avLst/>
          </a:prstGeom>
          <a:solidFill>
            <a:srgbClr val="00897B">
              <a:alpha val="60000"/>
            </a:srgbClr>
          </a:solidFill>
          <a:ln w="12700">
            <a:solidFill>
              <a:srgbClr val="00897B"/>
            </a:solidFill>
            <a:prstDash val="solid"/>
          </a:ln>
        </p:spPr>
      </p:sp>
      <p:sp>
        <p:nvSpPr>
          <p:cNvPr id="5" name="Shape 3"/>
          <p:cNvSpPr/>
          <p:nvPr/>
        </p:nvSpPr>
        <p:spPr>
          <a:xfrm>
            <a:off x="1783080" y="4828032"/>
            <a:ext cx="91440" cy="91440"/>
          </a:xfrm>
          <a:prstGeom prst="ellipse">
            <a:avLst/>
          </a:prstGeom>
          <a:solidFill>
            <a:srgbClr val="00897B">
              <a:alpha val="30000"/>
            </a:srgbClr>
          </a:solidFill>
          <a:ln w="12700">
            <a:solidFill>
              <a:srgbClr val="00897B"/>
            </a:solidFill>
            <a:prstDash val="solid"/>
          </a:ln>
        </p:spPr>
      </p:sp>
      <p:sp>
        <p:nvSpPr>
          <p:cNvPr id="6" name="Shape 4"/>
          <p:cNvSpPr/>
          <p:nvPr/>
        </p:nvSpPr>
        <p:spPr>
          <a:xfrm>
            <a:off x="2286000" y="4828032"/>
            <a:ext cx="91440" cy="91440"/>
          </a:xfrm>
          <a:prstGeom prst="ellipse">
            <a:avLst/>
          </a:prstGeom>
          <a:solidFill>
            <a:srgbClr val="00897B">
              <a:alpha val="60000"/>
            </a:srgbClr>
          </a:solidFill>
          <a:ln w="12700">
            <a:solidFill>
              <a:srgbClr val="00897B"/>
            </a:solidFill>
            <a:prstDash val="solid"/>
          </a:ln>
        </p:spPr>
      </p:sp>
      <p:sp>
        <p:nvSpPr>
          <p:cNvPr id="7" name="Shape 5"/>
          <p:cNvSpPr/>
          <p:nvPr/>
        </p:nvSpPr>
        <p:spPr>
          <a:xfrm>
            <a:off x="2788920" y="4828032"/>
            <a:ext cx="91440" cy="91440"/>
          </a:xfrm>
          <a:prstGeom prst="ellipse">
            <a:avLst/>
          </a:prstGeom>
          <a:solidFill>
            <a:srgbClr val="00897B">
              <a:alpha val="30000"/>
            </a:srgbClr>
          </a:solidFill>
          <a:ln w="12700">
            <a:solidFill>
              <a:srgbClr val="00897B"/>
            </a:solidFill>
            <a:prstDash val="solid"/>
          </a:ln>
        </p:spPr>
      </p:sp>
      <p:sp>
        <p:nvSpPr>
          <p:cNvPr id="8" name="Shape 6"/>
          <p:cNvSpPr/>
          <p:nvPr/>
        </p:nvSpPr>
        <p:spPr>
          <a:xfrm>
            <a:off x="3291840" y="4828032"/>
            <a:ext cx="91440" cy="91440"/>
          </a:xfrm>
          <a:prstGeom prst="ellipse">
            <a:avLst/>
          </a:prstGeom>
          <a:solidFill>
            <a:srgbClr val="00897B">
              <a:alpha val="60000"/>
            </a:srgbClr>
          </a:solidFill>
          <a:ln w="12700">
            <a:solidFill>
              <a:srgbClr val="00897B"/>
            </a:solidFill>
            <a:prstDash val="solid"/>
          </a:ln>
        </p:spPr>
      </p:sp>
      <p:sp>
        <p:nvSpPr>
          <p:cNvPr id="9" name="Shape 7"/>
          <p:cNvSpPr/>
          <p:nvPr/>
        </p:nvSpPr>
        <p:spPr>
          <a:xfrm>
            <a:off x="3794760" y="4828032"/>
            <a:ext cx="91440" cy="91440"/>
          </a:xfrm>
          <a:prstGeom prst="ellipse">
            <a:avLst/>
          </a:prstGeom>
          <a:solidFill>
            <a:srgbClr val="00897B">
              <a:alpha val="30000"/>
            </a:srgbClr>
          </a:solidFill>
          <a:ln w="12700">
            <a:solidFill>
              <a:srgbClr val="00897B"/>
            </a:solidFill>
            <a:prstDash val="solid"/>
          </a:ln>
        </p:spPr>
      </p:sp>
      <p:sp>
        <p:nvSpPr>
          <p:cNvPr id="10" name="Shape 8"/>
          <p:cNvSpPr/>
          <p:nvPr/>
        </p:nvSpPr>
        <p:spPr>
          <a:xfrm>
            <a:off x="4297680" y="4828032"/>
            <a:ext cx="91440" cy="91440"/>
          </a:xfrm>
          <a:prstGeom prst="ellipse">
            <a:avLst/>
          </a:prstGeom>
          <a:solidFill>
            <a:srgbClr val="00897B">
              <a:alpha val="60000"/>
            </a:srgbClr>
          </a:solidFill>
          <a:ln w="12700">
            <a:solidFill>
              <a:srgbClr val="00897B"/>
            </a:solidFill>
            <a:prstDash val="solid"/>
          </a:ln>
        </p:spPr>
      </p:sp>
      <p:sp>
        <p:nvSpPr>
          <p:cNvPr id="11" name="Shape 9"/>
          <p:cNvSpPr/>
          <p:nvPr/>
        </p:nvSpPr>
        <p:spPr>
          <a:xfrm>
            <a:off x="4800600" y="4828032"/>
            <a:ext cx="91440" cy="91440"/>
          </a:xfrm>
          <a:prstGeom prst="ellipse">
            <a:avLst/>
          </a:prstGeom>
          <a:solidFill>
            <a:srgbClr val="00897B">
              <a:alpha val="30000"/>
            </a:srgbClr>
          </a:solidFill>
          <a:ln w="12700">
            <a:solidFill>
              <a:srgbClr val="00897B"/>
            </a:solidFill>
            <a:prstDash val="solid"/>
          </a:ln>
        </p:spPr>
      </p:sp>
      <p:sp>
        <p:nvSpPr>
          <p:cNvPr id="12" name="Shape 10"/>
          <p:cNvSpPr/>
          <p:nvPr/>
        </p:nvSpPr>
        <p:spPr>
          <a:xfrm>
            <a:off x="5303520" y="4828032"/>
            <a:ext cx="91440" cy="91440"/>
          </a:xfrm>
          <a:prstGeom prst="ellipse">
            <a:avLst/>
          </a:prstGeom>
          <a:solidFill>
            <a:srgbClr val="00897B">
              <a:alpha val="60000"/>
            </a:srgbClr>
          </a:solidFill>
          <a:ln w="12700">
            <a:solidFill>
              <a:srgbClr val="00897B"/>
            </a:solidFill>
            <a:prstDash val="solid"/>
          </a:ln>
        </p:spPr>
      </p:sp>
      <p:sp>
        <p:nvSpPr>
          <p:cNvPr id="13" name="Shape 11"/>
          <p:cNvSpPr/>
          <p:nvPr/>
        </p:nvSpPr>
        <p:spPr>
          <a:xfrm>
            <a:off x="5806440" y="4828032"/>
            <a:ext cx="91440" cy="91440"/>
          </a:xfrm>
          <a:prstGeom prst="ellipse">
            <a:avLst/>
          </a:prstGeom>
          <a:solidFill>
            <a:srgbClr val="00897B">
              <a:alpha val="30000"/>
            </a:srgbClr>
          </a:solidFill>
          <a:ln w="12700">
            <a:solidFill>
              <a:srgbClr val="00897B"/>
            </a:solidFill>
            <a:prstDash val="solid"/>
          </a:ln>
        </p:spPr>
      </p:sp>
      <p:sp>
        <p:nvSpPr>
          <p:cNvPr id="14" name="Shape 12"/>
          <p:cNvSpPr/>
          <p:nvPr/>
        </p:nvSpPr>
        <p:spPr>
          <a:xfrm>
            <a:off x="6309360" y="4828032"/>
            <a:ext cx="91440" cy="91440"/>
          </a:xfrm>
          <a:prstGeom prst="ellipse">
            <a:avLst/>
          </a:prstGeom>
          <a:solidFill>
            <a:srgbClr val="00897B">
              <a:alpha val="60000"/>
            </a:srgbClr>
          </a:solidFill>
          <a:ln w="12700">
            <a:solidFill>
              <a:srgbClr val="00897B"/>
            </a:solidFill>
            <a:prstDash val="solid"/>
          </a:ln>
        </p:spPr>
      </p:sp>
      <p:sp>
        <p:nvSpPr>
          <p:cNvPr id="15" name="Shape 13"/>
          <p:cNvSpPr/>
          <p:nvPr/>
        </p:nvSpPr>
        <p:spPr>
          <a:xfrm>
            <a:off x="6812280" y="4828032"/>
            <a:ext cx="91440" cy="91440"/>
          </a:xfrm>
          <a:prstGeom prst="ellipse">
            <a:avLst/>
          </a:prstGeom>
          <a:solidFill>
            <a:srgbClr val="00897B">
              <a:alpha val="30000"/>
            </a:srgbClr>
          </a:solidFill>
          <a:ln w="12700">
            <a:solidFill>
              <a:srgbClr val="00897B"/>
            </a:solidFill>
            <a:prstDash val="solid"/>
          </a:ln>
        </p:spPr>
      </p:sp>
      <p:sp>
        <p:nvSpPr>
          <p:cNvPr id="16" name="Shape 14"/>
          <p:cNvSpPr/>
          <p:nvPr/>
        </p:nvSpPr>
        <p:spPr>
          <a:xfrm>
            <a:off x="7315200" y="4828032"/>
            <a:ext cx="91440" cy="91440"/>
          </a:xfrm>
          <a:prstGeom prst="ellipse">
            <a:avLst/>
          </a:prstGeom>
          <a:solidFill>
            <a:srgbClr val="00897B">
              <a:alpha val="60000"/>
            </a:srgbClr>
          </a:solidFill>
          <a:ln w="12700">
            <a:solidFill>
              <a:srgbClr val="00897B"/>
            </a:solidFill>
            <a:prstDash val="solid"/>
          </a:ln>
        </p:spPr>
      </p:sp>
      <p:sp>
        <p:nvSpPr>
          <p:cNvPr id="17" name="Shape 15"/>
          <p:cNvSpPr/>
          <p:nvPr/>
        </p:nvSpPr>
        <p:spPr>
          <a:xfrm>
            <a:off x="7818120" y="4828032"/>
            <a:ext cx="91440" cy="91440"/>
          </a:xfrm>
          <a:prstGeom prst="ellipse">
            <a:avLst/>
          </a:prstGeom>
          <a:solidFill>
            <a:srgbClr val="00897B">
              <a:alpha val="30000"/>
            </a:srgbClr>
          </a:solidFill>
          <a:ln w="12700">
            <a:solidFill>
              <a:srgbClr val="00897B"/>
            </a:solidFill>
            <a:prstDash val="solid"/>
          </a:ln>
        </p:spPr>
      </p:sp>
      <p:sp>
        <p:nvSpPr>
          <p:cNvPr id="18" name="Shape 16"/>
          <p:cNvSpPr/>
          <p:nvPr/>
        </p:nvSpPr>
        <p:spPr>
          <a:xfrm>
            <a:off x="8321040" y="4828032"/>
            <a:ext cx="91440" cy="91440"/>
          </a:xfrm>
          <a:prstGeom prst="ellipse">
            <a:avLst/>
          </a:prstGeom>
          <a:solidFill>
            <a:srgbClr val="00897B">
              <a:alpha val="60000"/>
            </a:srgbClr>
          </a:solidFill>
          <a:ln w="12700">
            <a:solidFill>
              <a:srgbClr val="00897B"/>
            </a:solidFill>
            <a:prstDash val="solid"/>
          </a:ln>
        </p:spPr>
      </p:sp>
      <p:sp>
        <p:nvSpPr>
          <p:cNvPr id="19" name="Shape 17"/>
          <p:cNvSpPr/>
          <p:nvPr/>
        </p:nvSpPr>
        <p:spPr>
          <a:xfrm>
            <a:off x="8823960" y="4828032"/>
            <a:ext cx="91440" cy="91440"/>
          </a:xfrm>
          <a:prstGeom prst="ellipse">
            <a:avLst/>
          </a:prstGeom>
          <a:solidFill>
            <a:srgbClr val="00897B">
              <a:alpha val="30000"/>
            </a:srgbClr>
          </a:solidFill>
          <a:ln w="12700">
            <a:solidFill>
              <a:srgbClr val="00897B"/>
            </a:solidFill>
            <a:prstDash val="solid"/>
          </a:ln>
        </p:spPr>
      </p:sp>
      <p:sp>
        <p:nvSpPr>
          <p:cNvPr id="20" name="Shape 18"/>
          <p:cNvSpPr/>
          <p:nvPr/>
        </p:nvSpPr>
        <p:spPr>
          <a:xfrm>
            <a:off x="0" y="4709160"/>
            <a:ext cx="9144000" cy="36576"/>
          </a:xfrm>
          <a:prstGeom prst="rect">
            <a:avLst/>
          </a:prstGeom>
          <a:solidFill>
            <a:srgbClr val="00897B">
              <a:alpha val="40000"/>
            </a:srgbClr>
          </a:solidFill>
          <a:ln w="12700">
            <a:solidFill>
              <a:srgbClr val="00897B"/>
            </a:solidFill>
            <a:prstDash val="solid"/>
          </a:ln>
        </p:spPr>
      </p:sp>
      <p:sp>
        <p:nvSpPr>
          <p:cNvPr id="21" name="Shape 19"/>
          <p:cNvSpPr/>
          <p:nvPr/>
        </p:nvSpPr>
        <p:spPr>
          <a:xfrm>
            <a:off x="0" y="0"/>
            <a:ext cx="9144000" cy="502920"/>
          </a:xfrm>
          <a:prstGeom prst="rect">
            <a:avLst/>
          </a:prstGeom>
          <a:solidFill>
            <a:srgbClr val="0D2244"/>
          </a:solidFill>
          <a:ln w="12700">
            <a:solidFill>
              <a:srgbClr val="0D2244"/>
            </a:solidFill>
            <a:prstDash val="solid"/>
          </a:ln>
        </p:spPr>
      </p:sp>
      <p:sp>
        <p:nvSpPr>
          <p:cNvPr id="22" name="Text 20"/>
          <p:cNvSpPr/>
          <p:nvPr/>
        </p:nvSpPr>
        <p:spPr>
          <a:xfrm>
            <a:off x="0" y="0"/>
            <a:ext cx="9144000" cy="502920"/>
          </a:xfrm>
          <a:prstGeom prst="rect">
            <a:avLst/>
          </a:prstGeom>
          <a:noFill/>
          <a:ln/>
        </p:spPr>
        <p:txBody>
          <a:bodyPr wrap="square" lIns="0" tIns="0" rIns="0" bIns="0" rtlCol="0" anchor="ctr"/>
          <a:lstStyle/>
          <a:p>
            <a:pPr marL="0" indent="0" algn="ctr">
              <a:buNone/>
            </a:pPr>
            <a:r>
              <a:rPr lang="en-US" sz="1000" dirty="0">
                <a:solidFill>
                  <a:srgbClr val="B0BEC5"/>
                </a:solidFill>
                <a:latin typeface="Calibri" pitchFamily="34" charset="0"/>
                <a:ea typeface="Calibri" pitchFamily="34" charset="-122"/>
                <a:cs typeface="Calibri" pitchFamily="34" charset="-120"/>
              </a:rPr>
              <a:t>SEMICONDUCTOR MANUFACTURING  |  Slide 12 of 12</a:t>
            </a:r>
            <a:endParaRPr lang="en-US" sz="1000" dirty="0"/>
          </a:p>
        </p:txBody>
      </p:sp>
      <p:pic>
        <p:nvPicPr>
          <p:cNvPr id="23" name="Image 0" descr="preencoded.png"/>
          <p:cNvPicPr>
            <a:picLocks noChangeAspect="1"/>
          </p:cNvPicPr>
          <p:nvPr/>
        </p:nvPicPr>
        <p:blipFill>
          <a:blip r:embed="rId3"/>
          <a:stretch>
            <a:fillRect/>
          </a:stretch>
        </p:blipFill>
        <p:spPr>
          <a:xfrm>
            <a:off x="3931920" y="685800"/>
            <a:ext cx="1188720" cy="1188720"/>
          </a:xfrm>
          <a:prstGeom prst="rect">
            <a:avLst/>
          </a:prstGeom>
        </p:spPr>
      </p:pic>
      <p:sp>
        <p:nvSpPr>
          <p:cNvPr id="24" name="Text 21"/>
          <p:cNvSpPr/>
          <p:nvPr/>
        </p:nvSpPr>
        <p:spPr>
          <a:xfrm>
            <a:off x="914400" y="1920240"/>
            <a:ext cx="7315200" cy="685800"/>
          </a:xfrm>
          <a:prstGeom prst="rect">
            <a:avLst/>
          </a:prstGeom>
          <a:noFill/>
          <a:ln/>
        </p:spPr>
        <p:txBody>
          <a:bodyPr wrap="square" lIns="0" tIns="0" rIns="0" bIns="0" rtlCol="0" anchor="ctr"/>
          <a:lstStyle/>
          <a:p>
            <a:pPr marL="0" indent="0" algn="ctr">
              <a:buNone/>
            </a:pPr>
            <a:r>
              <a:rPr lang="en-US" sz="3400" b="1" dirty="0">
                <a:solidFill>
                  <a:srgbClr val="FFB300"/>
                </a:solidFill>
                <a:latin typeface="Trebuchet MS" pitchFamily="34" charset="0"/>
                <a:ea typeface="Trebuchet MS" pitchFamily="34" charset="-122"/>
                <a:cs typeface="Trebuchet MS" pitchFamily="34" charset="-120"/>
              </a:rPr>
              <a:t>Congratulations!</a:t>
            </a:r>
            <a:endParaRPr lang="en-US" sz="3400" dirty="0"/>
          </a:p>
        </p:txBody>
      </p:sp>
      <p:sp>
        <p:nvSpPr>
          <p:cNvPr id="25" name="Text 22"/>
          <p:cNvSpPr/>
          <p:nvPr/>
        </p:nvSpPr>
        <p:spPr>
          <a:xfrm>
            <a:off x="914400" y="2578608"/>
            <a:ext cx="7315200" cy="50292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You've completed the Semiconductor Manufacturing course.</a:t>
            </a:r>
            <a:endParaRPr lang="en-US" sz="1600" dirty="0"/>
          </a:p>
        </p:txBody>
      </p:sp>
      <p:sp>
        <p:nvSpPr>
          <p:cNvPr id="26" name="Text 23"/>
          <p:cNvSpPr/>
          <p:nvPr/>
        </p:nvSpPr>
        <p:spPr>
          <a:xfrm>
            <a:off x="1371600" y="3090672"/>
            <a:ext cx="6400800" cy="548640"/>
          </a:xfrm>
          <a:prstGeom prst="rect">
            <a:avLst/>
          </a:prstGeom>
          <a:noFill/>
          <a:ln/>
        </p:spPr>
        <p:txBody>
          <a:bodyPr wrap="square" lIns="0" tIns="0" rIns="0" bIns="0" rtlCol="0" anchor="ctr"/>
          <a:lstStyle/>
          <a:p>
            <a:pPr marL="0" indent="0" algn="ctr">
              <a:buNone/>
            </a:pPr>
            <a:r>
              <a:rPr lang="en-US" sz="1350" i="1" dirty="0">
                <a:solidFill>
                  <a:srgbClr val="B0BEC5"/>
                </a:solidFill>
                <a:latin typeface="Calibri" pitchFamily="34" charset="0"/>
                <a:ea typeface="Calibri" pitchFamily="34" charset="-122"/>
                <a:cs typeface="Calibri" pitchFamily="34" charset="-120"/>
              </a:rPr>
              <a:t>You now understand how a tiny grain of sand becomes the chip that powers the world around you.</a:t>
            </a:r>
            <a:endParaRPr lang="en-US" sz="1350" dirty="0"/>
          </a:p>
        </p:txBody>
      </p:sp>
      <p:sp>
        <p:nvSpPr>
          <p:cNvPr id="27" name="Shape 24"/>
          <p:cNvSpPr/>
          <p:nvPr/>
        </p:nvSpPr>
        <p:spPr>
          <a:xfrm>
            <a:off x="2286000" y="3749040"/>
            <a:ext cx="4572000" cy="640080"/>
          </a:xfrm>
          <a:prstGeom prst="roundRect">
            <a:avLst>
              <a:gd name="adj" fmla="val 14286"/>
            </a:avLst>
          </a:prstGeom>
          <a:solidFill>
            <a:srgbClr val="00897B">
              <a:alpha val="75000"/>
            </a:srgbClr>
          </a:solidFill>
          <a:ln w="25400">
            <a:solidFill>
              <a:srgbClr val="00BCD4"/>
            </a:solidFill>
            <a:prstDash val="solid"/>
          </a:ln>
        </p:spPr>
      </p:sp>
      <p:sp>
        <p:nvSpPr>
          <p:cNvPr id="28" name="Text 25"/>
          <p:cNvSpPr/>
          <p:nvPr/>
        </p:nvSpPr>
        <p:spPr>
          <a:xfrm>
            <a:off x="2286000" y="3749040"/>
            <a:ext cx="457200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  Download Your Certificate of Completion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B1D3A"/>
          </a:solidFill>
          <a:ln w="12700">
            <a:solidFill>
              <a:srgbClr val="0B1D3A"/>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TASK 2: Instructional Design Approach &amp; Media Justification</a:t>
            </a:r>
            <a:endParaRPr lang="en-US" sz="1300" dirty="0"/>
          </a:p>
        </p:txBody>
      </p:sp>
      <p:sp>
        <p:nvSpPr>
          <p:cNvPr id="4" name="Text 2"/>
          <p:cNvSpPr/>
          <p:nvPr/>
        </p:nvSpPr>
        <p:spPr>
          <a:xfrm>
            <a:off x="457200" y="685800"/>
            <a:ext cx="8229600" cy="502920"/>
          </a:xfrm>
          <a:prstGeom prst="rect">
            <a:avLst/>
          </a:prstGeom>
          <a:noFill/>
          <a:ln/>
        </p:spPr>
        <p:txBody>
          <a:bodyPr wrap="square" lIns="0" tIns="0" rIns="0" bIns="0" rtlCol="0" anchor="ctr"/>
          <a:lstStyle/>
          <a:p>
            <a:pPr marL="0" indent="0">
              <a:buNone/>
            </a:pPr>
            <a:r>
              <a:rPr lang="en-US" sz="2400" b="1" dirty="0">
                <a:solidFill>
                  <a:srgbClr val="0B1D3A"/>
                </a:solidFill>
                <a:latin typeface="Trebuchet MS" pitchFamily="34" charset="0"/>
                <a:ea typeface="Trebuchet MS" pitchFamily="34" charset="-122"/>
                <a:cs typeface="Trebuchet MS" pitchFamily="34" charset="-120"/>
              </a:rPr>
              <a:t>Design Rationale</a:t>
            </a:r>
            <a:endParaRPr lang="en-US" sz="2400" dirty="0"/>
          </a:p>
        </p:txBody>
      </p:sp>
      <p:sp>
        <p:nvSpPr>
          <p:cNvPr id="5" name="Shape 3"/>
          <p:cNvSpPr/>
          <p:nvPr/>
        </p:nvSpPr>
        <p:spPr>
          <a:xfrm>
            <a:off x="365760" y="1325880"/>
            <a:ext cx="4206240" cy="1664208"/>
          </a:xfrm>
          <a:prstGeom prst="rect">
            <a:avLst/>
          </a:prstGeom>
          <a:solidFill>
            <a:srgbClr val="FFFFFF"/>
          </a:solidFill>
          <a:ln w="25400">
            <a:solidFill>
              <a:srgbClr val="00897B"/>
            </a:solidFill>
            <a:prstDash val="solid"/>
          </a:ln>
          <a:effectLst>
            <a:outerShdw blurRad="101600" dist="38100" dir="8100000" algn="bl" rotWithShape="0">
              <a:srgbClr val="000000">
                <a:alpha val="18000"/>
              </a:srgbClr>
            </a:outerShdw>
          </a:effectLst>
        </p:spPr>
      </p:sp>
      <p:sp>
        <p:nvSpPr>
          <p:cNvPr id="6" name="Shape 4"/>
          <p:cNvSpPr/>
          <p:nvPr/>
        </p:nvSpPr>
        <p:spPr>
          <a:xfrm>
            <a:off x="365760" y="1325880"/>
            <a:ext cx="4206240" cy="384048"/>
          </a:xfrm>
          <a:prstGeom prst="rect">
            <a:avLst/>
          </a:prstGeom>
          <a:solidFill>
            <a:srgbClr val="00897B">
              <a:alpha val="85000"/>
            </a:srgbClr>
          </a:solidFill>
          <a:ln w="12700">
            <a:solidFill>
              <a:srgbClr val="00897B"/>
            </a:solidFill>
            <a:prstDash val="solid"/>
          </a:ln>
        </p:spPr>
      </p:sp>
      <p:sp>
        <p:nvSpPr>
          <p:cNvPr id="7" name="Text 5"/>
          <p:cNvSpPr/>
          <p:nvPr/>
        </p:nvSpPr>
        <p:spPr>
          <a:xfrm>
            <a:off x="475488" y="1362456"/>
            <a:ext cx="397764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  Instructional Model</a:t>
            </a:r>
            <a:endParaRPr lang="en-US" sz="1250" dirty="0"/>
          </a:p>
        </p:txBody>
      </p:sp>
      <p:sp>
        <p:nvSpPr>
          <p:cNvPr id="8" name="Text 6"/>
          <p:cNvSpPr/>
          <p:nvPr/>
        </p:nvSpPr>
        <p:spPr>
          <a:xfrm>
            <a:off x="475488" y="1783080"/>
            <a:ext cx="4005072" cy="1143000"/>
          </a:xfrm>
          <a:prstGeom prst="rect">
            <a:avLst/>
          </a:prstGeom>
          <a:noFill/>
          <a:ln/>
        </p:spPr>
        <p:txBody>
          <a:bodyPr wrap="square" lIns="0" tIns="0" rIns="0" bIns="0" rtlCol="0" anchor="t"/>
          <a:lstStyle/>
          <a:p>
            <a:pPr marL="0" indent="0">
              <a:buNone/>
            </a:pPr>
            <a:r>
              <a:rPr lang="en-US" sz="1050" dirty="0">
                <a:solidFill>
                  <a:srgbClr val="0B1D3A"/>
                </a:solidFill>
                <a:latin typeface="Calibri" pitchFamily="34" charset="0"/>
                <a:ea typeface="Calibri" pitchFamily="34" charset="-122"/>
                <a:cs typeface="Calibri" pitchFamily="34" charset="-120"/>
              </a:rPr>
              <a:t>ADDIE-aligned structure with Bloom's Taxonomy progression: Remember (definitions) → Understand (process steps) → Apply (branching scenario). The course follows the Gagne 9 Events — gaining attention (title), informing objectives, presenting content, eliciting performance (quiz + scenario), and providing feedback.</a:t>
            </a:r>
            <a:endParaRPr lang="en-US" sz="1050" dirty="0"/>
          </a:p>
        </p:txBody>
      </p:sp>
      <p:sp>
        <p:nvSpPr>
          <p:cNvPr id="9" name="Shape 7"/>
          <p:cNvSpPr/>
          <p:nvPr/>
        </p:nvSpPr>
        <p:spPr>
          <a:xfrm>
            <a:off x="4800600" y="1325880"/>
            <a:ext cx="4206240" cy="1664208"/>
          </a:xfrm>
          <a:prstGeom prst="rect">
            <a:avLst/>
          </a:prstGeom>
          <a:solidFill>
            <a:srgbClr val="FFFFFF"/>
          </a:solidFill>
          <a:ln w="25400">
            <a:solidFill>
              <a:srgbClr val="1565C0"/>
            </a:solidFill>
            <a:prstDash val="solid"/>
          </a:ln>
          <a:effectLst>
            <a:outerShdw blurRad="101600" dist="38100" dir="8100000" algn="bl" rotWithShape="0">
              <a:srgbClr val="000000">
                <a:alpha val="18000"/>
              </a:srgbClr>
            </a:outerShdw>
          </a:effectLst>
        </p:spPr>
      </p:sp>
      <p:sp>
        <p:nvSpPr>
          <p:cNvPr id="10" name="Shape 8"/>
          <p:cNvSpPr/>
          <p:nvPr/>
        </p:nvSpPr>
        <p:spPr>
          <a:xfrm>
            <a:off x="4800600" y="1325880"/>
            <a:ext cx="4206240" cy="384048"/>
          </a:xfrm>
          <a:prstGeom prst="rect">
            <a:avLst/>
          </a:prstGeom>
          <a:solidFill>
            <a:srgbClr val="1565C0">
              <a:alpha val="85000"/>
            </a:srgbClr>
          </a:solidFill>
          <a:ln w="12700">
            <a:solidFill>
              <a:srgbClr val="1565C0"/>
            </a:solidFill>
            <a:prstDash val="solid"/>
          </a:ln>
        </p:spPr>
      </p:sp>
      <p:sp>
        <p:nvSpPr>
          <p:cNvPr id="11" name="Text 9"/>
          <p:cNvSpPr/>
          <p:nvPr/>
        </p:nvSpPr>
        <p:spPr>
          <a:xfrm>
            <a:off x="4910328" y="1362456"/>
            <a:ext cx="397764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  Media Selection</a:t>
            </a:r>
            <a:endParaRPr lang="en-US" sz="1250" dirty="0"/>
          </a:p>
        </p:txBody>
      </p:sp>
      <p:sp>
        <p:nvSpPr>
          <p:cNvPr id="12" name="Text 10"/>
          <p:cNvSpPr/>
          <p:nvPr/>
        </p:nvSpPr>
        <p:spPr>
          <a:xfrm>
            <a:off x="4910328" y="1783080"/>
            <a:ext cx="4005072" cy="1143000"/>
          </a:xfrm>
          <a:prstGeom prst="rect">
            <a:avLst/>
          </a:prstGeom>
          <a:noFill/>
          <a:ln/>
        </p:spPr>
        <p:txBody>
          <a:bodyPr wrap="square" lIns="0" tIns="0" rIns="0" bIns="0" rtlCol="0" anchor="t"/>
          <a:lstStyle/>
          <a:p>
            <a:pPr marL="0" indent="0">
              <a:buNone/>
            </a:pPr>
            <a:r>
              <a:rPr lang="en-US" sz="1050" dirty="0">
                <a:solidFill>
                  <a:srgbClr val="0B1D3A"/>
                </a:solidFill>
                <a:latin typeface="Calibri" pitchFamily="34" charset="0"/>
                <a:ea typeface="Calibri" pitchFamily="34" charset="-122"/>
                <a:cs typeface="Calibri" pitchFamily="34" charset="-120"/>
              </a:rPr>
              <a:t>Animation-based approach chosen for abstract content (nanoscale processes that cannot be photographed) — animations make invisible processes visible. Stock footage used for tangible steps (furnaces, cleanrooms). Icons provide visual anchoring for each process stage. Dark background used for technical/science slides to evoke lab/tech aesthetics.</a:t>
            </a:r>
            <a:endParaRPr lang="en-US" sz="1050" dirty="0"/>
          </a:p>
        </p:txBody>
      </p:sp>
      <p:sp>
        <p:nvSpPr>
          <p:cNvPr id="13" name="Shape 11"/>
          <p:cNvSpPr/>
          <p:nvPr/>
        </p:nvSpPr>
        <p:spPr>
          <a:xfrm>
            <a:off x="365760" y="3154680"/>
            <a:ext cx="4206240" cy="1664208"/>
          </a:xfrm>
          <a:prstGeom prst="rect">
            <a:avLst/>
          </a:prstGeom>
          <a:solidFill>
            <a:srgbClr val="FFFFFF"/>
          </a:solidFill>
          <a:ln w="25400">
            <a:solidFill>
              <a:srgbClr val="7B1FA2"/>
            </a:solidFill>
            <a:prstDash val="solid"/>
          </a:ln>
          <a:effectLst>
            <a:outerShdw blurRad="101600" dist="38100" dir="8100000" algn="bl" rotWithShape="0">
              <a:srgbClr val="000000">
                <a:alpha val="18000"/>
              </a:srgbClr>
            </a:outerShdw>
          </a:effectLst>
        </p:spPr>
      </p:sp>
      <p:sp>
        <p:nvSpPr>
          <p:cNvPr id="14" name="Shape 12"/>
          <p:cNvSpPr/>
          <p:nvPr/>
        </p:nvSpPr>
        <p:spPr>
          <a:xfrm>
            <a:off x="365760" y="3154680"/>
            <a:ext cx="4206240" cy="384048"/>
          </a:xfrm>
          <a:prstGeom prst="rect">
            <a:avLst/>
          </a:prstGeom>
          <a:solidFill>
            <a:srgbClr val="7B1FA2">
              <a:alpha val="85000"/>
            </a:srgbClr>
          </a:solidFill>
          <a:ln w="12700">
            <a:solidFill>
              <a:srgbClr val="7B1FA2"/>
            </a:solidFill>
            <a:prstDash val="solid"/>
          </a:ln>
        </p:spPr>
      </p:sp>
      <p:sp>
        <p:nvSpPr>
          <p:cNvPr id="15" name="Text 13"/>
          <p:cNvSpPr/>
          <p:nvPr/>
        </p:nvSpPr>
        <p:spPr>
          <a:xfrm>
            <a:off x="475488" y="3191256"/>
            <a:ext cx="397764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  Learner Engagement Strategy</a:t>
            </a:r>
            <a:endParaRPr lang="en-US" sz="1250" dirty="0"/>
          </a:p>
        </p:txBody>
      </p:sp>
      <p:sp>
        <p:nvSpPr>
          <p:cNvPr id="16" name="Text 14"/>
          <p:cNvSpPr/>
          <p:nvPr/>
        </p:nvSpPr>
        <p:spPr>
          <a:xfrm>
            <a:off x="475488" y="3611880"/>
            <a:ext cx="4005072" cy="1143000"/>
          </a:xfrm>
          <a:prstGeom prst="rect">
            <a:avLst/>
          </a:prstGeom>
          <a:noFill/>
          <a:ln/>
        </p:spPr>
        <p:txBody>
          <a:bodyPr wrap="square" lIns="0" tIns="0" rIns="0" bIns="0" rtlCol="0" anchor="t"/>
          <a:lstStyle/>
          <a:p>
            <a:pPr marL="0" indent="0">
              <a:buNone/>
            </a:pPr>
            <a:r>
              <a:rPr lang="en-US" sz="1050" dirty="0">
                <a:solidFill>
                  <a:srgbClr val="0B1D3A"/>
                </a:solidFill>
                <a:latin typeface="Calibri" pitchFamily="34" charset="0"/>
                <a:ea typeface="Calibri" pitchFamily="34" charset="-122"/>
                <a:cs typeface="Calibri" pitchFamily="34" charset="-120"/>
              </a:rPr>
              <a:t>Scenario-based learning (Slide 9) targets application level — learners must make a consequential decision under pressure, mirroring real-world engineering judgment. Clickable roadmap (Slide 4) supports non-linear exploration. Knowledge check questions are spaced across the course to reinforce retrieval practice.</a:t>
            </a:r>
            <a:endParaRPr lang="en-US" sz="1050" dirty="0"/>
          </a:p>
        </p:txBody>
      </p:sp>
      <p:sp>
        <p:nvSpPr>
          <p:cNvPr id="17" name="Shape 15"/>
          <p:cNvSpPr/>
          <p:nvPr/>
        </p:nvSpPr>
        <p:spPr>
          <a:xfrm>
            <a:off x="4800600" y="3154680"/>
            <a:ext cx="4206240" cy="1664208"/>
          </a:xfrm>
          <a:prstGeom prst="rect">
            <a:avLst/>
          </a:prstGeom>
          <a:solidFill>
            <a:srgbClr val="FFFFFF"/>
          </a:solidFill>
          <a:ln w="25400">
            <a:solidFill>
              <a:srgbClr val="FFB300"/>
            </a:solidFill>
            <a:prstDash val="solid"/>
          </a:ln>
          <a:effectLst>
            <a:outerShdw blurRad="101600" dist="38100" dir="8100000" algn="bl" rotWithShape="0">
              <a:srgbClr val="000000">
                <a:alpha val="18000"/>
              </a:srgbClr>
            </a:outerShdw>
          </a:effectLst>
        </p:spPr>
      </p:sp>
      <p:sp>
        <p:nvSpPr>
          <p:cNvPr id="18" name="Shape 16"/>
          <p:cNvSpPr/>
          <p:nvPr/>
        </p:nvSpPr>
        <p:spPr>
          <a:xfrm>
            <a:off x="4800600" y="3154680"/>
            <a:ext cx="4206240" cy="384048"/>
          </a:xfrm>
          <a:prstGeom prst="rect">
            <a:avLst/>
          </a:prstGeom>
          <a:solidFill>
            <a:srgbClr val="FFB300">
              <a:alpha val="85000"/>
            </a:srgbClr>
          </a:solidFill>
          <a:ln w="12700">
            <a:solidFill>
              <a:srgbClr val="FFB300"/>
            </a:solidFill>
            <a:prstDash val="solid"/>
          </a:ln>
        </p:spPr>
      </p:sp>
      <p:sp>
        <p:nvSpPr>
          <p:cNvPr id="19" name="Text 17"/>
          <p:cNvSpPr/>
          <p:nvPr/>
        </p:nvSpPr>
        <p:spPr>
          <a:xfrm>
            <a:off x="4910328" y="3191256"/>
            <a:ext cx="3977640" cy="347472"/>
          </a:xfrm>
          <a:prstGeom prst="rect">
            <a:avLst/>
          </a:prstGeom>
          <a:noFill/>
          <a:ln/>
        </p:spPr>
        <p:txBody>
          <a:bodyPr wrap="square" lIns="0" tIns="0" rIns="0" bIns="0" rtlCol="0" anchor="ctr"/>
          <a:lstStyle/>
          <a:p>
            <a:pPr marL="0" indent="0">
              <a:buNone/>
            </a:pPr>
            <a:r>
              <a:rPr lang="en-US" sz="1250" b="1" dirty="0">
                <a:solidFill>
                  <a:srgbClr val="FFFFFF"/>
                </a:solidFill>
                <a:latin typeface="Trebuchet MS" pitchFamily="34" charset="0"/>
                <a:ea typeface="Trebuchet MS" pitchFamily="34" charset="-122"/>
                <a:cs typeface="Trebuchet MS" pitchFamily="34" charset="-120"/>
              </a:rPr>
              <a:t>♿  Accessibility &amp; Inclusion</a:t>
            </a:r>
            <a:endParaRPr lang="en-US" sz="1250" dirty="0"/>
          </a:p>
        </p:txBody>
      </p:sp>
      <p:sp>
        <p:nvSpPr>
          <p:cNvPr id="20" name="Text 18"/>
          <p:cNvSpPr/>
          <p:nvPr/>
        </p:nvSpPr>
        <p:spPr>
          <a:xfrm>
            <a:off x="4910328" y="3611880"/>
            <a:ext cx="4005072" cy="1143000"/>
          </a:xfrm>
          <a:prstGeom prst="rect">
            <a:avLst/>
          </a:prstGeom>
          <a:noFill/>
          <a:ln/>
        </p:spPr>
        <p:txBody>
          <a:bodyPr wrap="square" lIns="0" tIns="0" rIns="0" bIns="0" rtlCol="0" anchor="t"/>
          <a:lstStyle/>
          <a:p>
            <a:pPr marL="0" indent="0">
              <a:buNone/>
            </a:pPr>
            <a:r>
              <a:rPr lang="en-US" sz="1050" dirty="0">
                <a:solidFill>
                  <a:srgbClr val="0B1D3A"/>
                </a:solidFill>
                <a:latin typeface="Calibri" pitchFamily="34" charset="0"/>
                <a:ea typeface="Calibri" pitchFamily="34" charset="-122"/>
                <a:cs typeface="Calibri" pitchFamily="34" charset="-120"/>
              </a:rPr>
              <a:t>All visuals include alt-text notes for screen readers. Color choices maintain WCAG AA contrast ratios. Voiceover scripted in plain American English at Grade 8 reading level. Closed captions required in final build. Visuals avoid culture-specific imagery. Duration (~6 min) respects cognitive load limits for adult learners.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5309</Words>
  <Application>Microsoft Office PowerPoint</Application>
  <PresentationFormat>On-screen Show (16:9)</PresentationFormat>
  <Paragraphs>187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Manufacturing Process of Semiconductors</dc:title>
  <dc:subject>PptxGenJS Presentation</dc:subject>
  <dc:creator>Senior Instructional Designer</dc:creator>
  <cp:lastModifiedBy>Ratimaraj Singh</cp:lastModifiedBy>
  <cp:revision>3</cp:revision>
  <dcterms:created xsi:type="dcterms:W3CDTF">2026-04-22T18:41:00Z</dcterms:created>
  <dcterms:modified xsi:type="dcterms:W3CDTF">2026-04-23T08:40:51Z</dcterms:modified>
</cp:coreProperties>
</file>